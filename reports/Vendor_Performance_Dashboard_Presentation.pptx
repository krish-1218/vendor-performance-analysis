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charset="0"/>
      <p:regular r:id="rId13"/>
    </p:embeddedFont>
    <p:embeddedFont>
      <p:font typeface="Instrument Serif" panose="020B0604020202020204" charset="0"/>
      <p:regular r:id="rId14"/>
    </p:embeddedFont>
    <p:embeddedFont>
      <p:font typeface="Open Sans" panose="020F0502020204030204" pitchFamily="34" charset="0"/>
      <p:regular r:id="rId15"/>
    </p:embeddedFont>
    <p:embeddedFont>
      <p:font typeface="Open Sa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F1F1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3543891"/>
            <a:ext cx="13520290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Vendor Performance Analysis Dashboard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930226"/>
            <a:ext cx="1630352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 data-driven deep dive into vendor revenue, cost, profit, and efficiency — powered by SQL, Python, and Power BI.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5859361"/>
            <a:ext cx="16303523" cy="21136"/>
            <a:chOff x="0" y="0"/>
            <a:chExt cx="21738031" cy="281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38082" cy="28194"/>
            </a:xfrm>
            <a:custGeom>
              <a:avLst/>
              <a:gdLst/>
              <a:ahLst/>
              <a:cxnLst/>
              <a:rect l="l" t="t" r="r" b="b"/>
              <a:pathLst>
                <a:path w="21738082" h="28194">
                  <a:moveTo>
                    <a:pt x="0" y="0"/>
                  </a:moveTo>
                  <a:lnTo>
                    <a:pt x="21738082" y="0"/>
                  </a:lnTo>
                  <a:lnTo>
                    <a:pt x="21738082" y="28194"/>
                  </a:lnTo>
                  <a:lnTo>
                    <a:pt x="0" y="28194"/>
                  </a:lnTo>
                  <a:close/>
                </a:path>
              </a:pathLst>
            </a:custGeom>
            <a:solidFill>
              <a:srgbClr val="BFBFBF">
                <a:alpha val="24706"/>
              </a:srgbClr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6184554"/>
            <a:ext cx="1630352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BFBFB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By Krishna Bhise</a:t>
            </a: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·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F1F1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87476" y="1101033"/>
            <a:ext cx="2675039" cy="561384"/>
            <a:chOff x="0" y="0"/>
            <a:chExt cx="3566719" cy="7485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66668" cy="748538"/>
            </a:xfrm>
            <a:custGeom>
              <a:avLst/>
              <a:gdLst/>
              <a:ahLst/>
              <a:cxnLst/>
              <a:rect l="l" t="t" r="r" b="b"/>
              <a:pathLst>
                <a:path w="3566668" h="748538">
                  <a:moveTo>
                    <a:pt x="0" y="51689"/>
                  </a:moveTo>
                  <a:cubicBezTo>
                    <a:pt x="0" y="23114"/>
                    <a:pt x="23495" y="0"/>
                    <a:pt x="52324" y="0"/>
                  </a:cubicBezTo>
                  <a:lnTo>
                    <a:pt x="3514344" y="0"/>
                  </a:lnTo>
                  <a:lnTo>
                    <a:pt x="3514344" y="6350"/>
                  </a:lnTo>
                  <a:lnTo>
                    <a:pt x="3514344" y="0"/>
                  </a:lnTo>
                  <a:cubicBezTo>
                    <a:pt x="3543173" y="0"/>
                    <a:pt x="3566668" y="23114"/>
                    <a:pt x="3566668" y="51689"/>
                  </a:cubicBezTo>
                  <a:lnTo>
                    <a:pt x="3560318" y="51689"/>
                  </a:lnTo>
                  <a:lnTo>
                    <a:pt x="3566668" y="51689"/>
                  </a:lnTo>
                  <a:lnTo>
                    <a:pt x="3566668" y="696849"/>
                  </a:lnTo>
                  <a:lnTo>
                    <a:pt x="3560318" y="696849"/>
                  </a:lnTo>
                  <a:lnTo>
                    <a:pt x="3566668" y="696849"/>
                  </a:lnTo>
                  <a:cubicBezTo>
                    <a:pt x="3566668" y="725551"/>
                    <a:pt x="3543173" y="748538"/>
                    <a:pt x="3514344" y="748538"/>
                  </a:cubicBezTo>
                  <a:lnTo>
                    <a:pt x="3514344" y="742188"/>
                  </a:lnTo>
                  <a:lnTo>
                    <a:pt x="3514344" y="748538"/>
                  </a:lnTo>
                  <a:lnTo>
                    <a:pt x="52324" y="748538"/>
                  </a:lnTo>
                  <a:lnTo>
                    <a:pt x="52324" y="742188"/>
                  </a:lnTo>
                  <a:lnTo>
                    <a:pt x="52324" y="748538"/>
                  </a:lnTo>
                  <a:cubicBezTo>
                    <a:pt x="23495" y="748538"/>
                    <a:pt x="0" y="725424"/>
                    <a:pt x="0" y="696849"/>
                  </a:cubicBezTo>
                  <a:lnTo>
                    <a:pt x="0" y="51689"/>
                  </a:lnTo>
                  <a:lnTo>
                    <a:pt x="6350" y="51689"/>
                  </a:lnTo>
                  <a:lnTo>
                    <a:pt x="0" y="51689"/>
                  </a:lnTo>
                  <a:moveTo>
                    <a:pt x="12700" y="51689"/>
                  </a:moveTo>
                  <a:lnTo>
                    <a:pt x="12700" y="696849"/>
                  </a:lnTo>
                  <a:lnTo>
                    <a:pt x="6350" y="696849"/>
                  </a:lnTo>
                  <a:lnTo>
                    <a:pt x="12700" y="696849"/>
                  </a:lnTo>
                  <a:cubicBezTo>
                    <a:pt x="12700" y="718312"/>
                    <a:pt x="30353" y="735838"/>
                    <a:pt x="52324" y="735838"/>
                  </a:cubicBezTo>
                  <a:lnTo>
                    <a:pt x="3514344" y="735838"/>
                  </a:lnTo>
                  <a:cubicBezTo>
                    <a:pt x="3536315" y="735838"/>
                    <a:pt x="3553968" y="718312"/>
                    <a:pt x="3553968" y="696849"/>
                  </a:cubicBezTo>
                  <a:lnTo>
                    <a:pt x="3553968" y="51689"/>
                  </a:lnTo>
                  <a:cubicBezTo>
                    <a:pt x="3553968" y="30226"/>
                    <a:pt x="3536315" y="12700"/>
                    <a:pt x="3514344" y="12700"/>
                  </a:cubicBezTo>
                  <a:lnTo>
                    <a:pt x="52324" y="12700"/>
                  </a:lnTo>
                  <a:lnTo>
                    <a:pt x="52324" y="6350"/>
                  </a:lnTo>
                  <a:lnTo>
                    <a:pt x="52324" y="12700"/>
                  </a:lnTo>
                  <a:cubicBezTo>
                    <a:pt x="30353" y="12700"/>
                    <a:pt x="12700" y="30226"/>
                    <a:pt x="12700" y="51689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71870" y="1133627"/>
            <a:ext cx="2306241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F5F547"/>
                </a:solidFill>
                <a:latin typeface="Open Sans"/>
                <a:ea typeface="Open Sans"/>
                <a:cs typeface="Open Sans"/>
                <a:sym typeface="Open Sans"/>
              </a:rPr>
              <a:t>EXECUTIVE SUMMARY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752009"/>
            <a:ext cx="7767638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This Project Does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3251597"/>
            <a:ext cx="7805890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This project leverages </a:t>
            </a:r>
            <a:r>
              <a:rPr lang="en-US" sz="2187" b="1">
                <a:solidFill>
                  <a:srgbClr val="BFBFB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analytics and Power BI</a:t>
            </a: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to provide organizations with a comprehensive view of vendor performance. By integrating SQL-driven data extraction with Python-based processing, the dashboard surfaces actionable insights across four critical dimensions: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295209" y="3082233"/>
            <a:ext cx="8214274" cy="3079547"/>
            <a:chOff x="0" y="0"/>
            <a:chExt cx="10952366" cy="41060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52353" cy="4106037"/>
            </a:xfrm>
            <a:custGeom>
              <a:avLst/>
              <a:gdLst/>
              <a:ahLst/>
              <a:cxnLst/>
              <a:rect l="l" t="t" r="r" b="b"/>
              <a:pathLst>
                <a:path w="10952353" h="410603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895711" y="0"/>
                  </a:lnTo>
                  <a:cubicBezTo>
                    <a:pt x="10927080" y="0"/>
                    <a:pt x="10952353" y="25400"/>
                    <a:pt x="10952353" y="56642"/>
                  </a:cubicBezTo>
                  <a:lnTo>
                    <a:pt x="10952353" y="4049395"/>
                  </a:lnTo>
                  <a:cubicBezTo>
                    <a:pt x="10952353" y="4080764"/>
                    <a:pt x="10926953" y="4106037"/>
                    <a:pt x="10895711" y="4106037"/>
                  </a:cubicBezTo>
                  <a:lnTo>
                    <a:pt x="56642" y="4106037"/>
                  </a:lnTo>
                  <a:cubicBezTo>
                    <a:pt x="25273" y="4106037"/>
                    <a:pt x="0" y="4080637"/>
                    <a:pt x="0" y="4049395"/>
                  </a:cubicBezTo>
                  <a:close/>
                </a:path>
              </a:pathLst>
            </a:custGeom>
            <a:solidFill>
              <a:srgbClr val="1D4241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578731" y="3356219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Project Goal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78731" y="4006453"/>
            <a:ext cx="7647232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Empower business stakeholders with a </a:t>
            </a:r>
            <a:r>
              <a:rPr lang="en-US" sz="2187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single source of truth</a:t>
            </a:r>
            <a:r>
              <a:rPr lang="en-US" sz="21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for vendor evaluation — eliminating guesswork and enabling data-backed decisions at every level of the supply chain.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098499" y="6489497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913630" y="6471199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Revenue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13630" y="7008019"/>
            <a:ext cx="7053110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Track total income generated per vendor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9427369" y="6489497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5" y="0"/>
                </a:lnTo>
                <a:lnTo>
                  <a:pt x="425205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242499" y="6471199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Cost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42499" y="7008019"/>
            <a:ext cx="7053262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Monitor procurement and operational spend</a:t>
            </a:r>
          </a:p>
        </p:txBody>
      </p:sp>
      <p:sp>
        <p:nvSpPr>
          <p:cNvPr id="21" name="Freeform 21" descr="preencoded.png"/>
          <p:cNvSpPr/>
          <p:nvPr/>
        </p:nvSpPr>
        <p:spPr>
          <a:xfrm>
            <a:off x="1098499" y="8123187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913630" y="8104880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Profit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13630" y="8641709"/>
            <a:ext cx="7053110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Measure net value delivered by each vendor</a:t>
            </a:r>
          </a:p>
        </p:txBody>
      </p:sp>
      <p:sp>
        <p:nvSpPr>
          <p:cNvPr id="24" name="Freeform 24" descr="preencoded.png"/>
          <p:cNvSpPr/>
          <p:nvPr/>
        </p:nvSpPr>
        <p:spPr>
          <a:xfrm>
            <a:off x="9427369" y="8123187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5" y="0"/>
                </a:lnTo>
                <a:lnTo>
                  <a:pt x="425205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0242499" y="8104880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Efficiency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42499" y="8641709"/>
            <a:ext cx="7053262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Evaluate profit margins and performance ratios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F1F1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549451"/>
            <a:ext cx="2714920" cy="532809"/>
            <a:chOff x="0" y="0"/>
            <a:chExt cx="3619894" cy="7104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19881" cy="710438"/>
            </a:xfrm>
            <a:custGeom>
              <a:avLst/>
              <a:gdLst/>
              <a:ahLst/>
              <a:cxnLst/>
              <a:rect l="l" t="t" r="r" b="b"/>
              <a:pathLst>
                <a:path w="3619881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3574542" y="0"/>
                  </a:lnTo>
                  <a:cubicBezTo>
                    <a:pt x="3599561" y="0"/>
                    <a:pt x="3619881" y="20320"/>
                    <a:pt x="3619881" y="45339"/>
                  </a:cubicBezTo>
                  <a:lnTo>
                    <a:pt x="3619881" y="665099"/>
                  </a:lnTo>
                  <a:cubicBezTo>
                    <a:pt x="3619881" y="690118"/>
                    <a:pt x="3599561" y="710438"/>
                    <a:pt x="3574542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494904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1567758"/>
            <a:ext cx="2374697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2176615"/>
            <a:ext cx="13638009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Visibility Gap in Vendor Management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3421113"/>
            <a:ext cx="1630352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Without structured analytics, organizations operate blind — unable to distinguish high-value vendors from cost drains.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92238" y="4279402"/>
            <a:ext cx="8009934" cy="2087318"/>
            <a:chOff x="0" y="0"/>
            <a:chExt cx="10679913" cy="27830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79937" cy="2783078"/>
            </a:xfrm>
            <a:custGeom>
              <a:avLst/>
              <a:gdLst/>
              <a:ahLst/>
              <a:cxnLst/>
              <a:rect l="l" t="t" r="r" b="b"/>
              <a:pathLst>
                <a:path w="10679937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2726309"/>
                  </a:lnTo>
                  <a:cubicBezTo>
                    <a:pt x="10679937" y="2757678"/>
                    <a:pt x="10654537" y="2783078"/>
                    <a:pt x="10623169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275759" y="4553398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🔍</a:t>
            </a:r>
            <a:r>
              <a:rPr lang="en-US" sz="275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No Clear Ranking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5759" y="5090217"/>
            <a:ext cx="744289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Difficult to identify which vendors drive the most revenue or profit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85684" y="4279402"/>
            <a:ext cx="8010077" cy="2087318"/>
            <a:chOff x="0" y="0"/>
            <a:chExt cx="10680103" cy="278309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80192" cy="2783078"/>
            </a:xfrm>
            <a:custGeom>
              <a:avLst/>
              <a:gdLst/>
              <a:ahLst/>
              <a:cxnLst/>
              <a:rect l="l" t="t" r="r" b="b"/>
              <a:pathLst>
                <a:path w="10680192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2726309"/>
                  </a:lnTo>
                  <a:cubicBezTo>
                    <a:pt x="10680192" y="2757678"/>
                    <a:pt x="10654792" y="2783078"/>
                    <a:pt x="10623423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9569206" y="4553398"/>
            <a:ext cx="368647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💸</a:t>
            </a:r>
            <a:r>
              <a:rPr lang="en-US" sz="275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Uncontrolled Costs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69206" y="5090217"/>
            <a:ext cx="7443045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Lack of cost visibility leads to overspending and missed savings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92238" y="6650241"/>
            <a:ext cx="8009934" cy="2087318"/>
            <a:chOff x="0" y="0"/>
            <a:chExt cx="10679913" cy="27830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79937" cy="2783078"/>
            </a:xfrm>
            <a:custGeom>
              <a:avLst/>
              <a:gdLst/>
              <a:ahLst/>
              <a:cxnLst/>
              <a:rect l="l" t="t" r="r" b="b"/>
              <a:pathLst>
                <a:path w="10679937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2726309"/>
                  </a:lnTo>
                  <a:cubicBezTo>
                    <a:pt x="10679937" y="2757678"/>
                    <a:pt x="10654537" y="2783078"/>
                    <a:pt x="10623169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275759" y="6924227"/>
            <a:ext cx="4369746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📉</a:t>
            </a:r>
            <a:r>
              <a:rPr lang="en-US" sz="275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Profitability Blind Spots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5759" y="7461047"/>
            <a:ext cx="744289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No systematic way to analyze margins across vendor portfolios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85684" y="6650241"/>
            <a:ext cx="8010077" cy="2087318"/>
            <a:chOff x="0" y="0"/>
            <a:chExt cx="10680103" cy="278309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680192" cy="2783078"/>
            </a:xfrm>
            <a:custGeom>
              <a:avLst/>
              <a:gdLst/>
              <a:ahLst/>
              <a:cxnLst/>
              <a:rect l="l" t="t" r="r" b="b"/>
              <a:pathLst>
                <a:path w="10680192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2726309"/>
                  </a:lnTo>
                  <a:cubicBezTo>
                    <a:pt x="10680192" y="2757678"/>
                    <a:pt x="10654792" y="2783078"/>
                    <a:pt x="10623423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9569206" y="692422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⚠️</a:t>
            </a:r>
            <a:r>
              <a:rPr lang="en-US" sz="275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Decision Risk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69206" y="7461047"/>
            <a:ext cx="7443045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Strategic vendor decisions made on incomplete or outdated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F1F1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87476" y="1032872"/>
            <a:ext cx="1594695" cy="561384"/>
            <a:chOff x="0" y="0"/>
            <a:chExt cx="2126259" cy="7485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26234" cy="748538"/>
            </a:xfrm>
            <a:custGeom>
              <a:avLst/>
              <a:gdLst/>
              <a:ahLst/>
              <a:cxnLst/>
              <a:rect l="l" t="t" r="r" b="b"/>
              <a:pathLst>
                <a:path w="2126234" h="748538">
                  <a:moveTo>
                    <a:pt x="0" y="51689"/>
                  </a:moveTo>
                  <a:cubicBezTo>
                    <a:pt x="0" y="23114"/>
                    <a:pt x="23495" y="0"/>
                    <a:pt x="52197" y="0"/>
                  </a:cubicBezTo>
                  <a:lnTo>
                    <a:pt x="2074037" y="0"/>
                  </a:lnTo>
                  <a:lnTo>
                    <a:pt x="2074037" y="6350"/>
                  </a:lnTo>
                  <a:lnTo>
                    <a:pt x="2074037" y="0"/>
                  </a:lnTo>
                  <a:cubicBezTo>
                    <a:pt x="2102866" y="0"/>
                    <a:pt x="2126234" y="23114"/>
                    <a:pt x="2126234" y="51689"/>
                  </a:cubicBezTo>
                  <a:lnTo>
                    <a:pt x="2119884" y="51689"/>
                  </a:lnTo>
                  <a:lnTo>
                    <a:pt x="2126234" y="51689"/>
                  </a:lnTo>
                  <a:lnTo>
                    <a:pt x="2126234" y="696849"/>
                  </a:lnTo>
                  <a:lnTo>
                    <a:pt x="2119884" y="696849"/>
                  </a:lnTo>
                  <a:lnTo>
                    <a:pt x="2126234" y="696849"/>
                  </a:lnTo>
                  <a:cubicBezTo>
                    <a:pt x="2126234" y="725424"/>
                    <a:pt x="2102739" y="748538"/>
                    <a:pt x="2074037" y="748538"/>
                  </a:cubicBezTo>
                  <a:lnTo>
                    <a:pt x="2074037" y="742188"/>
                  </a:lnTo>
                  <a:lnTo>
                    <a:pt x="2074037" y="748538"/>
                  </a:lnTo>
                  <a:lnTo>
                    <a:pt x="52197" y="748538"/>
                  </a:lnTo>
                  <a:lnTo>
                    <a:pt x="52197" y="742188"/>
                  </a:lnTo>
                  <a:lnTo>
                    <a:pt x="52197" y="748538"/>
                  </a:lnTo>
                  <a:cubicBezTo>
                    <a:pt x="23495" y="748538"/>
                    <a:pt x="0" y="725424"/>
                    <a:pt x="0" y="696849"/>
                  </a:cubicBezTo>
                  <a:lnTo>
                    <a:pt x="0" y="51689"/>
                  </a:lnTo>
                  <a:lnTo>
                    <a:pt x="6350" y="51689"/>
                  </a:lnTo>
                  <a:lnTo>
                    <a:pt x="0" y="51689"/>
                  </a:lnTo>
                  <a:moveTo>
                    <a:pt x="12700" y="51689"/>
                  </a:moveTo>
                  <a:lnTo>
                    <a:pt x="12700" y="696849"/>
                  </a:lnTo>
                  <a:lnTo>
                    <a:pt x="6350" y="696849"/>
                  </a:lnTo>
                  <a:lnTo>
                    <a:pt x="12700" y="696849"/>
                  </a:lnTo>
                  <a:cubicBezTo>
                    <a:pt x="12700" y="718312"/>
                    <a:pt x="30353" y="735838"/>
                    <a:pt x="52197" y="735838"/>
                  </a:cubicBezTo>
                  <a:lnTo>
                    <a:pt x="2074037" y="735838"/>
                  </a:lnTo>
                  <a:cubicBezTo>
                    <a:pt x="2095881" y="735838"/>
                    <a:pt x="2113534" y="718312"/>
                    <a:pt x="2113534" y="696849"/>
                  </a:cubicBezTo>
                  <a:lnTo>
                    <a:pt x="2113534" y="51689"/>
                  </a:lnTo>
                  <a:cubicBezTo>
                    <a:pt x="2113534" y="30226"/>
                    <a:pt x="2095881" y="12700"/>
                    <a:pt x="2074037" y="12700"/>
                  </a:cubicBezTo>
                  <a:lnTo>
                    <a:pt x="52197" y="12700"/>
                  </a:lnTo>
                  <a:lnTo>
                    <a:pt x="52197" y="6350"/>
                  </a:lnTo>
                  <a:lnTo>
                    <a:pt x="52197" y="12700"/>
                  </a:lnTo>
                  <a:cubicBezTo>
                    <a:pt x="30353" y="12700"/>
                    <a:pt x="12700" y="30226"/>
                    <a:pt x="12700" y="51689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71870" y="1065457"/>
            <a:ext cx="1225896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F5F547"/>
                </a:solidFill>
                <a:latin typeface="Open Sans"/>
                <a:ea typeface="Open Sans"/>
                <a:cs typeface="Open Sans"/>
                <a:sym typeface="Open Sans"/>
              </a:rPr>
              <a:t>OBJECTIVES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683839"/>
            <a:ext cx="9375724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We Set Out to Achieve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238" y="3439268"/>
            <a:ext cx="8009934" cy="2550614"/>
            <a:chOff x="0" y="0"/>
            <a:chExt cx="10679913" cy="3400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79938" cy="3400806"/>
            </a:xfrm>
            <a:custGeom>
              <a:avLst/>
              <a:gdLst/>
              <a:ahLst/>
              <a:cxnLst/>
              <a:rect l="l" t="t" r="r" b="b"/>
              <a:pathLst>
                <a:path w="10679938" h="3400806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156966"/>
                  </a:lnTo>
                  <a:cubicBezTo>
                    <a:pt x="10679938" y="3291586"/>
                    <a:pt x="10570718" y="3400806"/>
                    <a:pt x="10436098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1F1F1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92238" y="3401168"/>
            <a:ext cx="8009934" cy="152400"/>
            <a:chOff x="0" y="0"/>
            <a:chExt cx="10679913" cy="203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679937" cy="203327"/>
            </a:xfrm>
            <a:custGeom>
              <a:avLst/>
              <a:gdLst/>
              <a:ahLst/>
              <a:cxnLst/>
              <a:rect l="l" t="t" r="r" b="b"/>
              <a:pathLst>
                <a:path w="10679937" h="20332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146558"/>
                  </a:lnTo>
                  <a:cubicBezTo>
                    <a:pt x="10679937" y="177927"/>
                    <a:pt x="10654537" y="203327"/>
                    <a:pt x="10623169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4571924" y="3014072"/>
            <a:ext cx="850554" cy="850554"/>
            <a:chOff x="0" y="0"/>
            <a:chExt cx="1134072" cy="11340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4827013" y="3121971"/>
            <a:ext cx="340223" cy="529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3859" y="4138460"/>
            <a:ext cx="5132937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Revenue, Cost &amp; Profit Analysis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3859" y="4675289"/>
            <a:ext cx="736669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Break down financial performance across all vendors in the dataset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285684" y="3439268"/>
            <a:ext cx="8010077" cy="2550614"/>
            <a:chOff x="0" y="0"/>
            <a:chExt cx="10680103" cy="3400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80065" cy="3400806"/>
            </a:xfrm>
            <a:custGeom>
              <a:avLst/>
              <a:gdLst/>
              <a:ahLst/>
              <a:cxnLst/>
              <a:rect l="l" t="t" r="r" b="b"/>
              <a:pathLst>
                <a:path w="10680065" h="3400806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225" y="0"/>
                  </a:lnTo>
                  <a:cubicBezTo>
                    <a:pt x="10570845" y="0"/>
                    <a:pt x="10680065" y="109220"/>
                    <a:pt x="10680065" y="243840"/>
                  </a:cubicBezTo>
                  <a:lnTo>
                    <a:pt x="10680065" y="3156966"/>
                  </a:lnTo>
                  <a:cubicBezTo>
                    <a:pt x="10680065" y="3291586"/>
                    <a:pt x="10570845" y="3400806"/>
                    <a:pt x="10436225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1F1F1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285684" y="3401168"/>
            <a:ext cx="8010077" cy="152400"/>
            <a:chOff x="0" y="0"/>
            <a:chExt cx="10680103" cy="203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680192" cy="203327"/>
            </a:xfrm>
            <a:custGeom>
              <a:avLst/>
              <a:gdLst/>
              <a:ahLst/>
              <a:cxnLst/>
              <a:rect l="l" t="t" r="r" b="b"/>
              <a:pathLst>
                <a:path w="10680192" h="20332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146558"/>
                  </a:lnTo>
                  <a:cubicBezTo>
                    <a:pt x="10680192" y="177927"/>
                    <a:pt x="10654792" y="203327"/>
                    <a:pt x="10623423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2865370" y="3014072"/>
            <a:ext cx="850554" cy="850554"/>
            <a:chOff x="0" y="0"/>
            <a:chExt cx="1134072" cy="113407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3120468" y="3121971"/>
            <a:ext cx="340223" cy="529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07306" y="4138460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Identify Top Vendors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07306" y="4675289"/>
            <a:ext cx="7366845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Surface the top 10 vendors by revenue and profitability contribution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92238" y="6698609"/>
            <a:ext cx="8009934" cy="2550614"/>
            <a:chOff x="0" y="0"/>
            <a:chExt cx="10679913" cy="3400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679938" cy="3400806"/>
            </a:xfrm>
            <a:custGeom>
              <a:avLst/>
              <a:gdLst/>
              <a:ahLst/>
              <a:cxnLst/>
              <a:rect l="l" t="t" r="r" b="b"/>
              <a:pathLst>
                <a:path w="10679938" h="3400806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156966"/>
                  </a:lnTo>
                  <a:cubicBezTo>
                    <a:pt x="10679938" y="3291586"/>
                    <a:pt x="10570718" y="3400806"/>
                    <a:pt x="10436098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1F1F1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992238" y="6660509"/>
            <a:ext cx="8009934" cy="152400"/>
            <a:chOff x="0" y="0"/>
            <a:chExt cx="10679913" cy="203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679937" cy="203327"/>
            </a:xfrm>
            <a:custGeom>
              <a:avLst/>
              <a:gdLst/>
              <a:ahLst/>
              <a:cxnLst/>
              <a:rect l="l" t="t" r="r" b="b"/>
              <a:pathLst>
                <a:path w="10679937" h="20332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146558"/>
                  </a:lnTo>
                  <a:cubicBezTo>
                    <a:pt x="10679937" y="177927"/>
                    <a:pt x="10654537" y="203327"/>
                    <a:pt x="10623169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4571924" y="6273403"/>
            <a:ext cx="850554" cy="850554"/>
            <a:chOff x="0" y="0"/>
            <a:chExt cx="1134072" cy="113407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4827013" y="6381302"/>
            <a:ext cx="340223" cy="529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13859" y="7397801"/>
            <a:ext cx="3802561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Evaluate Profit Margins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13859" y="7934620"/>
            <a:ext cx="736669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Benchmark margin performance and flag underperforming relationships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285684" y="6698609"/>
            <a:ext cx="8010077" cy="2550614"/>
            <a:chOff x="0" y="0"/>
            <a:chExt cx="10680103" cy="3400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680065" cy="3400806"/>
            </a:xfrm>
            <a:custGeom>
              <a:avLst/>
              <a:gdLst/>
              <a:ahLst/>
              <a:cxnLst/>
              <a:rect l="l" t="t" r="r" b="b"/>
              <a:pathLst>
                <a:path w="10680065" h="3400806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225" y="0"/>
                  </a:lnTo>
                  <a:cubicBezTo>
                    <a:pt x="10570845" y="0"/>
                    <a:pt x="10680065" y="109220"/>
                    <a:pt x="10680065" y="243840"/>
                  </a:cubicBezTo>
                  <a:lnTo>
                    <a:pt x="10680065" y="3156966"/>
                  </a:lnTo>
                  <a:cubicBezTo>
                    <a:pt x="10680065" y="3291586"/>
                    <a:pt x="10570845" y="3400806"/>
                    <a:pt x="10436225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1F1F1F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9285684" y="6660509"/>
            <a:ext cx="8010077" cy="152400"/>
            <a:chOff x="0" y="0"/>
            <a:chExt cx="10680103" cy="203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680192" cy="203327"/>
            </a:xfrm>
            <a:custGeom>
              <a:avLst/>
              <a:gdLst/>
              <a:ahLst/>
              <a:cxnLst/>
              <a:rect l="l" t="t" r="r" b="b"/>
              <a:pathLst>
                <a:path w="10680192" h="20332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146558"/>
                  </a:lnTo>
                  <a:cubicBezTo>
                    <a:pt x="10680192" y="177927"/>
                    <a:pt x="10654792" y="203327"/>
                    <a:pt x="10623423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2865370" y="6273403"/>
            <a:ext cx="850554" cy="850554"/>
            <a:chOff x="0" y="0"/>
            <a:chExt cx="1134072" cy="113407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13120468" y="6381302"/>
            <a:ext cx="340223" cy="529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607306" y="7397801"/>
            <a:ext cx="4374509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Visualize Profit Breakdown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607306" y="7934620"/>
            <a:ext cx="7366845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Deliver interactive Power BI visuals for intuitive stakeholder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F1F1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348978" y="634603"/>
            <a:ext cx="1828505" cy="395288"/>
            <a:chOff x="0" y="0"/>
            <a:chExt cx="2438006" cy="527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019" cy="527050"/>
            </a:xfrm>
            <a:custGeom>
              <a:avLst/>
              <a:gdLst/>
              <a:ahLst/>
              <a:cxnLst/>
              <a:rect l="l" t="t" r="r" b="b"/>
              <a:pathLst>
                <a:path w="2438019" h="527050">
                  <a:moveTo>
                    <a:pt x="0" y="36195"/>
                  </a:moveTo>
                  <a:cubicBezTo>
                    <a:pt x="0" y="16129"/>
                    <a:pt x="16129" y="0"/>
                    <a:pt x="36195" y="0"/>
                  </a:cubicBezTo>
                  <a:lnTo>
                    <a:pt x="2401824" y="0"/>
                  </a:lnTo>
                  <a:cubicBezTo>
                    <a:pt x="2421763" y="0"/>
                    <a:pt x="2438019" y="16129"/>
                    <a:pt x="2438019" y="36195"/>
                  </a:cubicBezTo>
                  <a:lnTo>
                    <a:pt x="2438019" y="490855"/>
                  </a:lnTo>
                  <a:cubicBezTo>
                    <a:pt x="2438019" y="510794"/>
                    <a:pt x="2421890" y="527050"/>
                    <a:pt x="2401824" y="527050"/>
                  </a:cubicBezTo>
                  <a:lnTo>
                    <a:pt x="36195" y="527050"/>
                  </a:lnTo>
                  <a:cubicBezTo>
                    <a:pt x="16129" y="527050"/>
                    <a:pt x="0" y="510921"/>
                    <a:pt x="0" y="490855"/>
                  </a:cubicBezTo>
                  <a:close/>
                </a:path>
              </a:pathLst>
            </a:custGeom>
            <a:solidFill>
              <a:srgbClr val="494904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484414" y="664216"/>
            <a:ext cx="1557633" cy="297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375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TOOLS &amp; DATASET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8978" y="1073201"/>
            <a:ext cx="8817769" cy="734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37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Technology Stack &amp; Data Sources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8978" y="2238527"/>
            <a:ext cx="2824162" cy="37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Tools Used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1348978" y="2812999"/>
            <a:ext cx="564804" cy="564804"/>
          </a:xfrm>
          <a:custGeom>
            <a:avLst/>
            <a:gdLst/>
            <a:ahLst/>
            <a:cxnLst/>
            <a:rect l="l" t="t" r="r" b="b"/>
            <a:pathLst>
              <a:path w="564804" h="564804">
                <a:moveTo>
                  <a:pt x="0" y="0"/>
                </a:moveTo>
                <a:lnTo>
                  <a:pt x="564804" y="0"/>
                </a:lnTo>
                <a:lnTo>
                  <a:pt x="564804" y="564804"/>
                </a:lnTo>
                <a:lnTo>
                  <a:pt x="0" y="564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499" b="-749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48978" y="3583781"/>
            <a:ext cx="2824162" cy="37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dirty="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SQL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8978" y="4107209"/>
            <a:ext cx="7519245" cy="678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Data extraction, table joins, and structured querying across vendor records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348978" y="5145291"/>
            <a:ext cx="564804" cy="564804"/>
          </a:xfrm>
          <a:custGeom>
            <a:avLst/>
            <a:gdLst/>
            <a:ahLst/>
            <a:cxnLst/>
            <a:rect l="l" t="t" r="r" b="b"/>
            <a:pathLst>
              <a:path w="564804" h="564804">
                <a:moveTo>
                  <a:pt x="0" y="0"/>
                </a:moveTo>
                <a:lnTo>
                  <a:pt x="564804" y="0"/>
                </a:lnTo>
                <a:lnTo>
                  <a:pt x="564804" y="564804"/>
                </a:lnTo>
                <a:lnTo>
                  <a:pt x="0" y="564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000" r="-14999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48978" y="5916063"/>
            <a:ext cx="2824162" cy="37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Python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8978" y="6439491"/>
            <a:ext cx="7519245" cy="678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Data cleaning, merging datasets, and validating KPI calculations with pandas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1348978" y="7477573"/>
            <a:ext cx="564804" cy="564804"/>
          </a:xfrm>
          <a:custGeom>
            <a:avLst/>
            <a:gdLst/>
            <a:ahLst/>
            <a:cxnLst/>
            <a:rect l="l" t="t" r="r" b="b"/>
            <a:pathLst>
              <a:path w="564804" h="564804">
                <a:moveTo>
                  <a:pt x="0" y="0"/>
                </a:moveTo>
                <a:lnTo>
                  <a:pt x="564804" y="0"/>
                </a:lnTo>
                <a:lnTo>
                  <a:pt x="564804" y="564804"/>
                </a:lnTo>
                <a:lnTo>
                  <a:pt x="0" y="564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33" r="-833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48978" y="8248355"/>
            <a:ext cx="2824162" cy="37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Power BI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8978" y="8771782"/>
            <a:ext cx="7519245" cy="678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Interactive dashboard creation with KPI cards, charts, and drill-through reports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29007" y="2238527"/>
            <a:ext cx="2824162" cy="37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Dataset Fields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424245" y="2808237"/>
            <a:ext cx="7528770" cy="4083253"/>
            <a:chOff x="0" y="0"/>
            <a:chExt cx="10038359" cy="544433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038334" cy="5444363"/>
            </a:xfrm>
            <a:custGeom>
              <a:avLst/>
              <a:gdLst/>
              <a:ahLst/>
              <a:cxnLst/>
              <a:rect l="l" t="t" r="r" b="b"/>
              <a:pathLst>
                <a:path w="10038334" h="5444363">
                  <a:moveTo>
                    <a:pt x="0" y="51562"/>
                  </a:moveTo>
                  <a:cubicBezTo>
                    <a:pt x="0" y="23114"/>
                    <a:pt x="23114" y="0"/>
                    <a:pt x="51562" y="0"/>
                  </a:cubicBezTo>
                  <a:lnTo>
                    <a:pt x="9986772" y="0"/>
                  </a:lnTo>
                  <a:lnTo>
                    <a:pt x="9986772" y="6350"/>
                  </a:lnTo>
                  <a:lnTo>
                    <a:pt x="9986772" y="0"/>
                  </a:lnTo>
                  <a:cubicBezTo>
                    <a:pt x="10015220" y="0"/>
                    <a:pt x="10038334" y="23114"/>
                    <a:pt x="10038334" y="51562"/>
                  </a:cubicBezTo>
                  <a:lnTo>
                    <a:pt x="10031984" y="51562"/>
                  </a:lnTo>
                  <a:lnTo>
                    <a:pt x="10038334" y="51562"/>
                  </a:lnTo>
                  <a:lnTo>
                    <a:pt x="10038334" y="5392801"/>
                  </a:lnTo>
                  <a:lnTo>
                    <a:pt x="10031984" y="5392801"/>
                  </a:lnTo>
                  <a:lnTo>
                    <a:pt x="10038334" y="5392801"/>
                  </a:lnTo>
                  <a:cubicBezTo>
                    <a:pt x="10038334" y="5421249"/>
                    <a:pt x="10015220" y="5444363"/>
                    <a:pt x="9986772" y="5444363"/>
                  </a:cubicBezTo>
                  <a:lnTo>
                    <a:pt x="9986772" y="5438013"/>
                  </a:lnTo>
                  <a:lnTo>
                    <a:pt x="9986772" y="5444363"/>
                  </a:lnTo>
                  <a:lnTo>
                    <a:pt x="51562" y="5444363"/>
                  </a:lnTo>
                  <a:lnTo>
                    <a:pt x="51562" y="5438013"/>
                  </a:lnTo>
                  <a:lnTo>
                    <a:pt x="51562" y="5444363"/>
                  </a:lnTo>
                  <a:cubicBezTo>
                    <a:pt x="23114" y="5444363"/>
                    <a:pt x="0" y="5421249"/>
                    <a:pt x="0" y="5392801"/>
                  </a:cubicBezTo>
                  <a:lnTo>
                    <a:pt x="0" y="51562"/>
                  </a:lnTo>
                  <a:lnTo>
                    <a:pt x="6350" y="51562"/>
                  </a:lnTo>
                  <a:lnTo>
                    <a:pt x="0" y="51562"/>
                  </a:lnTo>
                  <a:moveTo>
                    <a:pt x="12700" y="51562"/>
                  </a:moveTo>
                  <a:lnTo>
                    <a:pt x="12700" y="5392801"/>
                  </a:lnTo>
                  <a:lnTo>
                    <a:pt x="6350" y="5392801"/>
                  </a:lnTo>
                  <a:lnTo>
                    <a:pt x="12700" y="5392801"/>
                  </a:lnTo>
                  <a:cubicBezTo>
                    <a:pt x="12700" y="5414264"/>
                    <a:pt x="30099" y="5431663"/>
                    <a:pt x="51562" y="5431663"/>
                  </a:cubicBezTo>
                  <a:lnTo>
                    <a:pt x="9986772" y="5431663"/>
                  </a:lnTo>
                  <a:cubicBezTo>
                    <a:pt x="10008235" y="5431663"/>
                    <a:pt x="10025634" y="5414264"/>
                    <a:pt x="10025634" y="5392801"/>
                  </a:cubicBezTo>
                  <a:lnTo>
                    <a:pt x="10025634" y="51562"/>
                  </a:lnTo>
                  <a:cubicBezTo>
                    <a:pt x="10025634" y="30099"/>
                    <a:pt x="10008235" y="12700"/>
                    <a:pt x="9986772" y="12700"/>
                  </a:cubicBezTo>
                  <a:lnTo>
                    <a:pt x="51562" y="12700"/>
                  </a:lnTo>
                  <a:lnTo>
                    <a:pt x="51562" y="6350"/>
                  </a:lnTo>
                  <a:lnTo>
                    <a:pt x="51562" y="12700"/>
                  </a:lnTo>
                  <a:cubicBezTo>
                    <a:pt x="30099" y="12700"/>
                    <a:pt x="12700" y="30099"/>
                    <a:pt x="12700" y="51562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9664598" y="2911373"/>
            <a:ext cx="3293421" cy="35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1">
                <a:solidFill>
                  <a:srgbClr val="BFBFB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Field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19382" y="2911373"/>
            <a:ext cx="3293421" cy="35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 b="1">
                <a:solidFill>
                  <a:srgbClr val="BFBFB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Description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64598" y="3480492"/>
            <a:ext cx="3293421" cy="35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Vendor ID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419382" y="3480492"/>
            <a:ext cx="3293421" cy="35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Unique vendor identifier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64598" y="4049611"/>
            <a:ext cx="3293421" cy="35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Sales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19382" y="4049611"/>
            <a:ext cx="3293421" cy="35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Units sold per vendor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664598" y="4618730"/>
            <a:ext cx="3293421" cy="35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Revenue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419382" y="4618730"/>
            <a:ext cx="3293421" cy="35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Total income generated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64598" y="5187848"/>
            <a:ext cx="3293421" cy="35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Cost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419382" y="5187848"/>
            <a:ext cx="3293421" cy="678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Procurement &amp; operational cost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64598" y="6081713"/>
            <a:ext cx="3293421" cy="35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Inventory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419382" y="6081713"/>
            <a:ext cx="3293421" cy="678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Stock levels and movement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F1F1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996848"/>
            <a:ext cx="803072" cy="532809"/>
            <a:chOff x="0" y="0"/>
            <a:chExt cx="1070762" cy="7104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0737" cy="710438"/>
            </a:xfrm>
            <a:custGeom>
              <a:avLst/>
              <a:gdLst/>
              <a:ahLst/>
              <a:cxnLst/>
              <a:rect l="l" t="t" r="r" b="b"/>
              <a:pathLst>
                <a:path w="1070737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025398" y="0"/>
                  </a:lnTo>
                  <a:cubicBezTo>
                    <a:pt x="1050417" y="0"/>
                    <a:pt x="1070737" y="20320"/>
                    <a:pt x="1070737" y="45339"/>
                  </a:cubicBezTo>
                  <a:lnTo>
                    <a:pt x="1070737" y="665099"/>
                  </a:lnTo>
                  <a:cubicBezTo>
                    <a:pt x="1070737" y="690118"/>
                    <a:pt x="1050417" y="710438"/>
                    <a:pt x="1025398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494904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1015155"/>
            <a:ext cx="462858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KPIS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624012"/>
            <a:ext cx="9091460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Key Performance Indicators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2868511"/>
            <a:ext cx="1630352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Four headline metrics define the financial health of the vendor portfolio — all derived from clean, validated data.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001843"/>
            <a:ext cx="7974511" cy="802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$452M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07391" y="5148710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Total Revenue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5685530"/>
            <a:ext cx="7974511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Gross income across all vendors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21108" y="4001843"/>
            <a:ext cx="7974654" cy="802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$308M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36413" y="5148710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Total Cost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21108" y="5685530"/>
            <a:ext cx="7974654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Combined procurement spend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238" y="7066959"/>
            <a:ext cx="7974511" cy="802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$136M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07391" y="821382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Total Profit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238" y="8750646"/>
            <a:ext cx="7974511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Net value after costs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21108" y="7066959"/>
            <a:ext cx="7974654" cy="802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30%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36413" y="821382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Profit Margin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21108" y="8750646"/>
            <a:ext cx="7974654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Consistent across the portfolio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F1F1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8977" y="747417"/>
            <a:ext cx="2715073" cy="485480"/>
            <a:chOff x="0" y="0"/>
            <a:chExt cx="3620097" cy="647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0008" cy="647319"/>
            </a:xfrm>
            <a:custGeom>
              <a:avLst/>
              <a:gdLst/>
              <a:ahLst/>
              <a:cxnLst/>
              <a:rect l="l" t="t" r="r" b="b"/>
              <a:pathLst>
                <a:path w="3620008" h="647319">
                  <a:moveTo>
                    <a:pt x="0" y="46736"/>
                  </a:moveTo>
                  <a:cubicBezTo>
                    <a:pt x="0" y="20828"/>
                    <a:pt x="21336" y="0"/>
                    <a:pt x="47371" y="0"/>
                  </a:cubicBezTo>
                  <a:lnTo>
                    <a:pt x="3572637" y="0"/>
                  </a:lnTo>
                  <a:lnTo>
                    <a:pt x="3572637" y="6350"/>
                  </a:lnTo>
                  <a:lnTo>
                    <a:pt x="3572637" y="0"/>
                  </a:lnTo>
                  <a:cubicBezTo>
                    <a:pt x="3598672" y="0"/>
                    <a:pt x="3620008" y="20828"/>
                    <a:pt x="3620008" y="46736"/>
                  </a:cubicBezTo>
                  <a:lnTo>
                    <a:pt x="3613658" y="46736"/>
                  </a:lnTo>
                  <a:lnTo>
                    <a:pt x="3620008" y="46736"/>
                  </a:lnTo>
                  <a:lnTo>
                    <a:pt x="3620008" y="600583"/>
                  </a:lnTo>
                  <a:lnTo>
                    <a:pt x="3613658" y="600583"/>
                  </a:lnTo>
                  <a:lnTo>
                    <a:pt x="3620008" y="600583"/>
                  </a:lnTo>
                  <a:cubicBezTo>
                    <a:pt x="3620008" y="626491"/>
                    <a:pt x="3598672" y="647319"/>
                    <a:pt x="3572637" y="647319"/>
                  </a:cubicBezTo>
                  <a:lnTo>
                    <a:pt x="3572637" y="640969"/>
                  </a:lnTo>
                  <a:lnTo>
                    <a:pt x="3572637" y="647319"/>
                  </a:lnTo>
                  <a:lnTo>
                    <a:pt x="47371" y="647319"/>
                  </a:lnTo>
                  <a:lnTo>
                    <a:pt x="47371" y="640969"/>
                  </a:lnTo>
                  <a:lnTo>
                    <a:pt x="47371" y="647319"/>
                  </a:lnTo>
                  <a:cubicBezTo>
                    <a:pt x="21336" y="647319"/>
                    <a:pt x="0" y="626491"/>
                    <a:pt x="0" y="600583"/>
                  </a:cubicBezTo>
                  <a:lnTo>
                    <a:pt x="0" y="46736"/>
                  </a:lnTo>
                  <a:lnTo>
                    <a:pt x="6350" y="46736"/>
                  </a:lnTo>
                  <a:lnTo>
                    <a:pt x="0" y="46736"/>
                  </a:lnTo>
                  <a:moveTo>
                    <a:pt x="12700" y="46736"/>
                  </a:moveTo>
                  <a:lnTo>
                    <a:pt x="12700" y="600583"/>
                  </a:lnTo>
                  <a:lnTo>
                    <a:pt x="6350" y="600583"/>
                  </a:lnTo>
                  <a:lnTo>
                    <a:pt x="12700" y="600583"/>
                  </a:lnTo>
                  <a:cubicBezTo>
                    <a:pt x="12700" y="619252"/>
                    <a:pt x="28194" y="634619"/>
                    <a:pt x="47371" y="634619"/>
                  </a:cubicBezTo>
                  <a:lnTo>
                    <a:pt x="3572637" y="634619"/>
                  </a:lnTo>
                  <a:cubicBezTo>
                    <a:pt x="3591941" y="634619"/>
                    <a:pt x="3607308" y="619252"/>
                    <a:pt x="3607308" y="600583"/>
                  </a:cubicBezTo>
                  <a:lnTo>
                    <a:pt x="3607308" y="46736"/>
                  </a:lnTo>
                  <a:cubicBezTo>
                    <a:pt x="3607308" y="28067"/>
                    <a:pt x="3591814" y="12700"/>
                    <a:pt x="3572637" y="12700"/>
                  </a:cubicBezTo>
                  <a:lnTo>
                    <a:pt x="47371" y="12700"/>
                  </a:lnTo>
                  <a:lnTo>
                    <a:pt x="47371" y="6350"/>
                  </a:lnTo>
                  <a:lnTo>
                    <a:pt x="47371" y="12700"/>
                  </a:lnTo>
                  <a:cubicBezTo>
                    <a:pt x="28194" y="12700"/>
                    <a:pt x="12700" y="28067"/>
                    <a:pt x="12700" y="46736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044778" y="789832"/>
            <a:ext cx="2383479" cy="35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562">
                <a:solidFill>
                  <a:srgbClr val="F5F547"/>
                </a:solidFill>
                <a:latin typeface="Open Sans"/>
                <a:ea typeface="Open Sans"/>
                <a:cs typeface="Open Sans"/>
                <a:sym typeface="Open Sans"/>
              </a:rPr>
              <a:t>SQL &amp; PYTHON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3739" y="1298972"/>
            <a:ext cx="10057952" cy="808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From Raw Data to Reliable Insights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83739" y="3720703"/>
            <a:ext cx="10522591" cy="4537624"/>
            <a:chOff x="0" y="0"/>
            <a:chExt cx="14030122" cy="6050166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4030071" cy="6050153"/>
            </a:xfrm>
            <a:custGeom>
              <a:avLst/>
              <a:gdLst/>
              <a:ahLst/>
              <a:cxnLst/>
              <a:rect l="l" t="t" r="r" b="b"/>
              <a:pathLst>
                <a:path w="14030071" h="6050153">
                  <a:moveTo>
                    <a:pt x="0" y="0"/>
                  </a:moveTo>
                  <a:lnTo>
                    <a:pt x="14030071" y="0"/>
                  </a:lnTo>
                  <a:lnTo>
                    <a:pt x="14030071" y="6050153"/>
                  </a:lnTo>
                  <a:lnTo>
                    <a:pt x="0" y="6050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3" r="-5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591770" y="7388295"/>
            <a:ext cx="2756935" cy="30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7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Python Merge &amp; Validate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1770" y="6337906"/>
            <a:ext cx="2387241" cy="30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7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Python Clean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91770" y="5298138"/>
            <a:ext cx="2387241" cy="30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7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SQL Join &amp; Filter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91770" y="4247750"/>
            <a:ext cx="2387241" cy="30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7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SQL Extract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32009" y="2659704"/>
            <a:ext cx="4195467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SQL — Data Extraction Layer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32009" y="3212459"/>
            <a:ext cx="5381625" cy="252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Queried multi-table vendor databases using structured joins</a:t>
            </a:r>
          </a:p>
          <a:p>
            <a:pPr marL="292199" lvl="1" indent="-146100" algn="l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Filtered and aggregated records by vendor ID, sales, and revenue</a:t>
            </a:r>
          </a:p>
          <a:p>
            <a:pPr marL="292199" lvl="1" indent="-146100" algn="l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Ensured data completeness before downstream processing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032009" y="6053290"/>
            <a:ext cx="5381625" cy="18898"/>
            <a:chOff x="0" y="0"/>
            <a:chExt cx="7175500" cy="251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175500" cy="25146"/>
            </a:xfrm>
            <a:custGeom>
              <a:avLst/>
              <a:gdLst/>
              <a:ahLst/>
              <a:cxnLst/>
              <a:rect l="l" t="t" r="r" b="b"/>
              <a:pathLst>
                <a:path w="7175500" h="25146">
                  <a:moveTo>
                    <a:pt x="0" y="0"/>
                  </a:moveTo>
                  <a:lnTo>
                    <a:pt x="7175500" y="0"/>
                  </a:lnTo>
                  <a:lnTo>
                    <a:pt x="7175500" y="25146"/>
                  </a:lnTo>
                  <a:lnTo>
                    <a:pt x="0" y="25146"/>
                  </a:lnTo>
                  <a:close/>
                </a:path>
              </a:pathLst>
            </a:custGeom>
            <a:solidFill>
              <a:srgbClr val="BFBFBF">
                <a:alpha val="24706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2032009" y="6378778"/>
            <a:ext cx="4953295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Python — Processing &amp; Validation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32009" y="6931523"/>
            <a:ext cx="5381625" cy="252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Cleaned raw exports using pandas — handled nulls and duplicates</a:t>
            </a:r>
          </a:p>
          <a:p>
            <a:pPr marL="292199" lvl="1" indent="-146100" algn="l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Merged SQL outputs into a single analytical dataset</a:t>
            </a:r>
          </a:p>
          <a:p>
            <a:pPr marL="292199" lvl="1" indent="-146100" algn="l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Validated KPIs: Revenue, Cost, Profit, and Margin calculations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F1F1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45804" y="1021556"/>
            <a:ext cx="2745286" cy="499767"/>
            <a:chOff x="0" y="0"/>
            <a:chExt cx="3660381" cy="6663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60267" cy="666242"/>
            </a:xfrm>
            <a:custGeom>
              <a:avLst/>
              <a:gdLst/>
              <a:ahLst/>
              <a:cxnLst/>
              <a:rect l="l" t="t" r="r" b="b"/>
              <a:pathLst>
                <a:path w="3660267" h="666242">
                  <a:moveTo>
                    <a:pt x="0" y="43180"/>
                  </a:moveTo>
                  <a:cubicBezTo>
                    <a:pt x="0" y="19304"/>
                    <a:pt x="19304" y="0"/>
                    <a:pt x="43180" y="0"/>
                  </a:cubicBezTo>
                  <a:lnTo>
                    <a:pt x="3617087" y="0"/>
                  </a:lnTo>
                  <a:cubicBezTo>
                    <a:pt x="3640963" y="0"/>
                    <a:pt x="3660267" y="19304"/>
                    <a:pt x="3660267" y="43180"/>
                  </a:cubicBezTo>
                  <a:lnTo>
                    <a:pt x="3660267" y="623062"/>
                  </a:lnTo>
                  <a:cubicBezTo>
                    <a:pt x="3660267" y="646938"/>
                    <a:pt x="3640963" y="666242"/>
                    <a:pt x="3617087" y="666242"/>
                  </a:cubicBezTo>
                  <a:lnTo>
                    <a:pt x="43180" y="666242"/>
                  </a:lnTo>
                  <a:cubicBezTo>
                    <a:pt x="19304" y="666242"/>
                    <a:pt x="0" y="646938"/>
                    <a:pt x="0" y="623062"/>
                  </a:cubicBezTo>
                  <a:close/>
                </a:path>
              </a:pathLst>
            </a:custGeom>
            <a:solidFill>
              <a:srgbClr val="494904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07872" y="1045369"/>
            <a:ext cx="2421141" cy="394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8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DASHBOARD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5804" y="1595733"/>
            <a:ext cx="8581282" cy="87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Power BI Dashboard Layout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5804" y="2779071"/>
            <a:ext cx="16396392" cy="49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The dashboard is structured into four focused analytical panels, each designed to answer a specific business question at a glance.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45804" y="3567265"/>
            <a:ext cx="16396392" cy="4294432"/>
            <a:chOff x="0" y="0"/>
            <a:chExt cx="21861856" cy="572590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861907" cy="5725922"/>
            </a:xfrm>
            <a:custGeom>
              <a:avLst/>
              <a:gdLst/>
              <a:ahLst/>
              <a:cxnLst/>
              <a:rect l="l" t="t" r="r" b="b"/>
              <a:pathLst>
                <a:path w="21861907" h="5725922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21807805" y="0"/>
                  </a:lnTo>
                  <a:cubicBezTo>
                    <a:pt x="21837650" y="0"/>
                    <a:pt x="21861907" y="24257"/>
                    <a:pt x="21861907" y="54102"/>
                  </a:cubicBezTo>
                  <a:lnTo>
                    <a:pt x="21861907" y="5671820"/>
                  </a:lnTo>
                  <a:cubicBezTo>
                    <a:pt x="21861907" y="5701665"/>
                    <a:pt x="21837650" y="5725922"/>
                    <a:pt x="21807805" y="5725922"/>
                  </a:cubicBezTo>
                  <a:lnTo>
                    <a:pt x="54102" y="5725922"/>
                  </a:lnTo>
                  <a:cubicBezTo>
                    <a:pt x="24257" y="5725922"/>
                    <a:pt x="0" y="5701665"/>
                    <a:pt x="0" y="5671820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45804" y="3567265"/>
            <a:ext cx="8198196" cy="2358333"/>
            <a:chOff x="0" y="0"/>
            <a:chExt cx="10930928" cy="31444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31017" cy="3144520"/>
            </a:xfrm>
            <a:custGeom>
              <a:avLst/>
              <a:gdLst/>
              <a:ahLst/>
              <a:cxnLst/>
              <a:rect l="l" t="t" r="r" b="b"/>
              <a:pathLst>
                <a:path w="10931017" h="3144520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0876915" y="0"/>
                  </a:lnTo>
                  <a:cubicBezTo>
                    <a:pt x="10906760" y="0"/>
                    <a:pt x="10931017" y="24257"/>
                    <a:pt x="10931017" y="54102"/>
                  </a:cubicBezTo>
                  <a:lnTo>
                    <a:pt x="10931017" y="3090418"/>
                  </a:lnTo>
                  <a:cubicBezTo>
                    <a:pt x="10931017" y="3120263"/>
                    <a:pt x="10906760" y="3144520"/>
                    <a:pt x="10876915" y="3144520"/>
                  </a:cubicBezTo>
                  <a:lnTo>
                    <a:pt x="54102" y="3144520"/>
                  </a:lnTo>
                  <a:cubicBezTo>
                    <a:pt x="24257" y="3144520"/>
                    <a:pt x="0" y="3120263"/>
                    <a:pt x="0" y="3090418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203274" y="3805685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KPI Cards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3274" y="4325245"/>
            <a:ext cx="7296893" cy="1342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Headline metrics — Revenue, Cost, Profit, and Margin — displayed prominently at the top for instant executive visibility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144000" y="3567265"/>
            <a:ext cx="8198196" cy="2358333"/>
            <a:chOff x="0" y="0"/>
            <a:chExt cx="10930928" cy="31444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30890" cy="3144393"/>
            </a:xfrm>
            <a:custGeom>
              <a:avLst/>
              <a:gdLst/>
              <a:ahLst/>
              <a:cxnLst/>
              <a:rect l="l" t="t" r="r" b="b"/>
              <a:pathLst>
                <a:path w="10930890" h="3144393">
                  <a:moveTo>
                    <a:pt x="0" y="0"/>
                  </a:moveTo>
                  <a:lnTo>
                    <a:pt x="10930890" y="0"/>
                  </a:lnTo>
                  <a:lnTo>
                    <a:pt x="10930890" y="3144393"/>
                  </a:lnTo>
                  <a:lnTo>
                    <a:pt x="0" y="3144393"/>
                  </a:lnTo>
                  <a:close/>
                </a:path>
              </a:pathLst>
            </a:custGeom>
            <a:solidFill>
              <a:srgbClr val="3E3E3E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144000" y="3567265"/>
            <a:ext cx="38100" cy="2358333"/>
            <a:chOff x="0" y="0"/>
            <a:chExt cx="50800" cy="31444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800" cy="3144393"/>
            </a:xfrm>
            <a:custGeom>
              <a:avLst/>
              <a:gdLst/>
              <a:ahLst/>
              <a:cxnLst/>
              <a:rect l="l" t="t" r="r" b="b"/>
              <a:pathLst>
                <a:path w="50800" h="3144393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3118993"/>
                  </a:lnTo>
                  <a:cubicBezTo>
                    <a:pt x="50800" y="3132963"/>
                    <a:pt x="39370" y="3144393"/>
                    <a:pt x="25400" y="3144393"/>
                  </a:cubicBezTo>
                  <a:cubicBezTo>
                    <a:pt x="11430" y="3144393"/>
                    <a:pt x="0" y="3132963"/>
                    <a:pt x="0" y="3118993"/>
                  </a:cubicBezTo>
                  <a:close/>
                </a:path>
              </a:pathLst>
            </a:custGeom>
            <a:solidFill>
              <a:srgbClr val="575757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9787833" y="3805685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Top 10 Vendors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87833" y="4325245"/>
            <a:ext cx="7296893" cy="92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Ranked bar chart showing the highest-performing vendors by revenue contribution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787260" y="4389615"/>
            <a:ext cx="713632" cy="713632"/>
            <a:chOff x="0" y="0"/>
            <a:chExt cx="951509" cy="951509"/>
          </a:xfrm>
        </p:grpSpPr>
        <p:sp>
          <p:nvSpPr>
            <p:cNvPr id="24" name="Freeform 24"/>
            <p:cNvSpPr/>
            <p:nvPr/>
          </p:nvSpPr>
          <p:spPr>
            <a:xfrm>
              <a:off x="25400" y="25400"/>
              <a:ext cx="900811" cy="900811"/>
            </a:xfrm>
            <a:custGeom>
              <a:avLst/>
              <a:gdLst/>
              <a:ahLst/>
              <a:cxnLst/>
              <a:rect l="l" t="t" r="r" b="b"/>
              <a:pathLst>
                <a:path w="900811" h="900811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846709" y="0"/>
                  </a:lnTo>
                  <a:cubicBezTo>
                    <a:pt x="876554" y="0"/>
                    <a:pt x="900811" y="24257"/>
                    <a:pt x="900811" y="54102"/>
                  </a:cubicBezTo>
                  <a:lnTo>
                    <a:pt x="900811" y="846709"/>
                  </a:lnTo>
                  <a:cubicBezTo>
                    <a:pt x="900811" y="876554"/>
                    <a:pt x="876554" y="900811"/>
                    <a:pt x="846709" y="900811"/>
                  </a:cubicBezTo>
                  <a:lnTo>
                    <a:pt x="54102" y="900811"/>
                  </a:lnTo>
                  <a:cubicBezTo>
                    <a:pt x="24257" y="900684"/>
                    <a:pt x="0" y="876554"/>
                    <a:pt x="0" y="846709"/>
                  </a:cubicBez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951611" cy="951611"/>
            </a:xfrm>
            <a:custGeom>
              <a:avLst/>
              <a:gdLst/>
              <a:ahLst/>
              <a:cxnLst/>
              <a:rect l="l" t="t" r="r" b="b"/>
              <a:pathLst>
                <a:path w="951611" h="951611">
                  <a:moveTo>
                    <a:pt x="0" y="79502"/>
                  </a:moveTo>
                  <a:cubicBezTo>
                    <a:pt x="0" y="35560"/>
                    <a:pt x="35560" y="0"/>
                    <a:pt x="79502" y="0"/>
                  </a:cubicBezTo>
                  <a:lnTo>
                    <a:pt x="872109" y="0"/>
                  </a:lnTo>
                  <a:lnTo>
                    <a:pt x="872109" y="25400"/>
                  </a:lnTo>
                  <a:lnTo>
                    <a:pt x="872109" y="0"/>
                  </a:lnTo>
                  <a:cubicBezTo>
                    <a:pt x="916051" y="0"/>
                    <a:pt x="951611" y="35560"/>
                    <a:pt x="951611" y="79502"/>
                  </a:cubicBezTo>
                  <a:lnTo>
                    <a:pt x="926211" y="79502"/>
                  </a:lnTo>
                  <a:lnTo>
                    <a:pt x="951611" y="79502"/>
                  </a:lnTo>
                  <a:lnTo>
                    <a:pt x="951611" y="872109"/>
                  </a:lnTo>
                  <a:lnTo>
                    <a:pt x="926211" y="872109"/>
                  </a:lnTo>
                  <a:lnTo>
                    <a:pt x="951611" y="872109"/>
                  </a:lnTo>
                  <a:cubicBezTo>
                    <a:pt x="951611" y="916051"/>
                    <a:pt x="916051" y="951611"/>
                    <a:pt x="872109" y="951611"/>
                  </a:cubicBezTo>
                  <a:lnTo>
                    <a:pt x="872109" y="926211"/>
                  </a:lnTo>
                  <a:lnTo>
                    <a:pt x="872109" y="951611"/>
                  </a:lnTo>
                  <a:lnTo>
                    <a:pt x="79502" y="951611"/>
                  </a:lnTo>
                  <a:lnTo>
                    <a:pt x="79502" y="926211"/>
                  </a:lnTo>
                  <a:lnTo>
                    <a:pt x="79502" y="951611"/>
                  </a:lnTo>
                  <a:cubicBezTo>
                    <a:pt x="35560" y="951484"/>
                    <a:pt x="0" y="915924"/>
                    <a:pt x="0" y="872109"/>
                  </a:cubicBezTo>
                  <a:lnTo>
                    <a:pt x="0" y="79502"/>
                  </a:lnTo>
                  <a:lnTo>
                    <a:pt x="25400" y="79502"/>
                  </a:lnTo>
                  <a:lnTo>
                    <a:pt x="0" y="79502"/>
                  </a:lnTo>
                  <a:moveTo>
                    <a:pt x="50800" y="79502"/>
                  </a:moveTo>
                  <a:lnTo>
                    <a:pt x="50800" y="872109"/>
                  </a:lnTo>
                  <a:lnTo>
                    <a:pt x="25400" y="872109"/>
                  </a:lnTo>
                  <a:lnTo>
                    <a:pt x="50800" y="872109"/>
                  </a:lnTo>
                  <a:cubicBezTo>
                    <a:pt x="50800" y="887984"/>
                    <a:pt x="63627" y="900811"/>
                    <a:pt x="79502" y="900811"/>
                  </a:cubicBezTo>
                  <a:lnTo>
                    <a:pt x="872109" y="900811"/>
                  </a:lnTo>
                  <a:cubicBezTo>
                    <a:pt x="887984" y="900811"/>
                    <a:pt x="900811" y="887984"/>
                    <a:pt x="900811" y="872109"/>
                  </a:cubicBezTo>
                  <a:lnTo>
                    <a:pt x="900811" y="79502"/>
                  </a:lnTo>
                  <a:cubicBezTo>
                    <a:pt x="900684" y="63627"/>
                    <a:pt x="887857" y="50800"/>
                    <a:pt x="872109" y="50800"/>
                  </a:cubicBezTo>
                  <a:lnTo>
                    <a:pt x="79502" y="50800"/>
                  </a:lnTo>
                  <a:lnTo>
                    <a:pt x="79502" y="25400"/>
                  </a:lnTo>
                  <a:lnTo>
                    <a:pt x="79502" y="50800"/>
                  </a:lnTo>
                  <a:cubicBezTo>
                    <a:pt x="63627" y="50800"/>
                    <a:pt x="50800" y="63627"/>
                    <a:pt x="50800" y="79502"/>
                  </a:cubicBezTo>
                  <a:close/>
                </a:path>
              </a:pathLst>
            </a:custGeom>
            <a:solidFill>
              <a:srgbClr val="575757"/>
            </a:solidFill>
          </p:spPr>
        </p:sp>
      </p:grpSp>
      <p:sp>
        <p:nvSpPr>
          <p:cNvPr id="26" name="Freeform 26" descr="preencoded.png"/>
          <p:cNvSpPr/>
          <p:nvPr/>
        </p:nvSpPr>
        <p:spPr>
          <a:xfrm>
            <a:off x="8975227" y="4577582"/>
            <a:ext cx="337690" cy="337690"/>
          </a:xfrm>
          <a:custGeom>
            <a:avLst/>
            <a:gdLst/>
            <a:ahLst/>
            <a:cxnLst/>
            <a:rect l="l" t="t" r="r" b="b"/>
            <a:pathLst>
              <a:path w="337690" h="337690">
                <a:moveTo>
                  <a:pt x="0" y="0"/>
                </a:moveTo>
                <a:lnTo>
                  <a:pt x="337689" y="0"/>
                </a:lnTo>
                <a:lnTo>
                  <a:pt x="337689" y="337689"/>
                </a:lnTo>
                <a:lnTo>
                  <a:pt x="0" y="3376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945804" y="5925588"/>
            <a:ext cx="8198196" cy="1936109"/>
            <a:chOff x="0" y="0"/>
            <a:chExt cx="10930928" cy="258147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930890" cy="2581529"/>
            </a:xfrm>
            <a:custGeom>
              <a:avLst/>
              <a:gdLst/>
              <a:ahLst/>
              <a:cxnLst/>
              <a:rect l="l" t="t" r="r" b="b"/>
              <a:pathLst>
                <a:path w="10930890" h="2581529">
                  <a:moveTo>
                    <a:pt x="0" y="0"/>
                  </a:moveTo>
                  <a:lnTo>
                    <a:pt x="10930890" y="0"/>
                  </a:lnTo>
                  <a:lnTo>
                    <a:pt x="10930890" y="2581529"/>
                  </a:lnTo>
                  <a:lnTo>
                    <a:pt x="0" y="2581529"/>
                  </a:lnTo>
                  <a:close/>
                </a:path>
              </a:pathLst>
            </a:custGeom>
            <a:solidFill>
              <a:srgbClr val="3E3E3E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45804" y="5925588"/>
            <a:ext cx="8198196" cy="38100"/>
            <a:chOff x="0" y="0"/>
            <a:chExt cx="10930928" cy="50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930890" cy="50800"/>
            </a:xfrm>
            <a:custGeom>
              <a:avLst/>
              <a:gdLst/>
              <a:ahLst/>
              <a:cxnLst/>
              <a:rect l="l" t="t" r="r" b="b"/>
              <a:pathLst>
                <a:path w="1093089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905490" y="0"/>
                  </a:lnTo>
                  <a:cubicBezTo>
                    <a:pt x="10919460" y="0"/>
                    <a:pt x="10930890" y="11430"/>
                    <a:pt x="10930890" y="25400"/>
                  </a:cubicBezTo>
                  <a:cubicBezTo>
                    <a:pt x="10930890" y="39370"/>
                    <a:pt x="10919460" y="50800"/>
                    <a:pt x="1090549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75757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203274" y="6164018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Profit vs Cost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03274" y="6683578"/>
            <a:ext cx="7296893" cy="92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Side-by-side comparison chart exposing vendors where costs erode margins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144000" y="5925588"/>
            <a:ext cx="8198196" cy="1936109"/>
            <a:chOff x="0" y="0"/>
            <a:chExt cx="10930928" cy="258147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930890" cy="2581529"/>
            </a:xfrm>
            <a:custGeom>
              <a:avLst/>
              <a:gdLst/>
              <a:ahLst/>
              <a:cxnLst/>
              <a:rect l="l" t="t" r="r" b="b"/>
              <a:pathLst>
                <a:path w="10930890" h="2581529">
                  <a:moveTo>
                    <a:pt x="0" y="0"/>
                  </a:moveTo>
                  <a:lnTo>
                    <a:pt x="10930890" y="0"/>
                  </a:lnTo>
                  <a:lnTo>
                    <a:pt x="10930890" y="2581529"/>
                  </a:lnTo>
                  <a:lnTo>
                    <a:pt x="0" y="2581529"/>
                  </a:lnTo>
                  <a:close/>
                </a:path>
              </a:pathLst>
            </a:custGeom>
            <a:solidFill>
              <a:srgbClr val="3E3E3E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9144000" y="5925588"/>
            <a:ext cx="38100" cy="1936109"/>
            <a:chOff x="0" y="0"/>
            <a:chExt cx="50800" cy="258147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0800" cy="2581529"/>
            </a:xfrm>
            <a:custGeom>
              <a:avLst/>
              <a:gdLst/>
              <a:ahLst/>
              <a:cxnLst/>
              <a:rect l="l" t="t" r="r" b="b"/>
              <a:pathLst>
                <a:path w="50800" h="2581529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556129"/>
                  </a:lnTo>
                  <a:cubicBezTo>
                    <a:pt x="50800" y="2570099"/>
                    <a:pt x="39370" y="2581529"/>
                    <a:pt x="25400" y="2581529"/>
                  </a:cubicBezTo>
                  <a:cubicBezTo>
                    <a:pt x="11430" y="2581529"/>
                    <a:pt x="0" y="2570099"/>
                    <a:pt x="0" y="2556129"/>
                  </a:cubicBezTo>
                  <a:close/>
                </a:path>
              </a:pathLst>
            </a:custGeom>
            <a:solidFill>
              <a:srgbClr val="575757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144000" y="5925588"/>
            <a:ext cx="8198196" cy="38100"/>
            <a:chOff x="0" y="0"/>
            <a:chExt cx="10930928" cy="50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930890" cy="50800"/>
            </a:xfrm>
            <a:custGeom>
              <a:avLst/>
              <a:gdLst/>
              <a:ahLst/>
              <a:cxnLst/>
              <a:rect l="l" t="t" r="r" b="b"/>
              <a:pathLst>
                <a:path w="1093089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905490" y="0"/>
                  </a:lnTo>
                  <a:cubicBezTo>
                    <a:pt x="10919460" y="0"/>
                    <a:pt x="10930890" y="11430"/>
                    <a:pt x="10930890" y="25400"/>
                  </a:cubicBezTo>
                  <a:cubicBezTo>
                    <a:pt x="10930890" y="39370"/>
                    <a:pt x="10919460" y="50800"/>
                    <a:pt x="1090549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75757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9787833" y="6164018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Margin Analysis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87833" y="6683578"/>
            <a:ext cx="7296893" cy="92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Visual breakdown of profit margin distribution across the vendor portfolio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8787260" y="6536750"/>
            <a:ext cx="713632" cy="713632"/>
            <a:chOff x="0" y="0"/>
            <a:chExt cx="951509" cy="951509"/>
          </a:xfrm>
        </p:grpSpPr>
        <p:sp>
          <p:nvSpPr>
            <p:cNvPr id="42" name="Freeform 42"/>
            <p:cNvSpPr/>
            <p:nvPr/>
          </p:nvSpPr>
          <p:spPr>
            <a:xfrm>
              <a:off x="25400" y="25400"/>
              <a:ext cx="900811" cy="900811"/>
            </a:xfrm>
            <a:custGeom>
              <a:avLst/>
              <a:gdLst/>
              <a:ahLst/>
              <a:cxnLst/>
              <a:rect l="l" t="t" r="r" b="b"/>
              <a:pathLst>
                <a:path w="900811" h="900811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846709" y="0"/>
                  </a:lnTo>
                  <a:cubicBezTo>
                    <a:pt x="876554" y="0"/>
                    <a:pt x="900811" y="24257"/>
                    <a:pt x="900811" y="54102"/>
                  </a:cubicBezTo>
                  <a:lnTo>
                    <a:pt x="900811" y="846709"/>
                  </a:lnTo>
                  <a:cubicBezTo>
                    <a:pt x="900811" y="876554"/>
                    <a:pt x="876554" y="900811"/>
                    <a:pt x="846709" y="900811"/>
                  </a:cubicBezTo>
                  <a:lnTo>
                    <a:pt x="54102" y="900811"/>
                  </a:lnTo>
                  <a:cubicBezTo>
                    <a:pt x="24257" y="900684"/>
                    <a:pt x="0" y="876554"/>
                    <a:pt x="0" y="846709"/>
                  </a:cubicBez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951611" cy="951611"/>
            </a:xfrm>
            <a:custGeom>
              <a:avLst/>
              <a:gdLst/>
              <a:ahLst/>
              <a:cxnLst/>
              <a:rect l="l" t="t" r="r" b="b"/>
              <a:pathLst>
                <a:path w="951611" h="951611">
                  <a:moveTo>
                    <a:pt x="0" y="79502"/>
                  </a:moveTo>
                  <a:cubicBezTo>
                    <a:pt x="0" y="35560"/>
                    <a:pt x="35560" y="0"/>
                    <a:pt x="79502" y="0"/>
                  </a:cubicBezTo>
                  <a:lnTo>
                    <a:pt x="872109" y="0"/>
                  </a:lnTo>
                  <a:lnTo>
                    <a:pt x="872109" y="25400"/>
                  </a:lnTo>
                  <a:lnTo>
                    <a:pt x="872109" y="0"/>
                  </a:lnTo>
                  <a:cubicBezTo>
                    <a:pt x="916051" y="0"/>
                    <a:pt x="951611" y="35560"/>
                    <a:pt x="951611" y="79502"/>
                  </a:cubicBezTo>
                  <a:lnTo>
                    <a:pt x="926211" y="79502"/>
                  </a:lnTo>
                  <a:lnTo>
                    <a:pt x="951611" y="79502"/>
                  </a:lnTo>
                  <a:lnTo>
                    <a:pt x="951611" y="872109"/>
                  </a:lnTo>
                  <a:lnTo>
                    <a:pt x="926211" y="872109"/>
                  </a:lnTo>
                  <a:lnTo>
                    <a:pt x="951611" y="872109"/>
                  </a:lnTo>
                  <a:cubicBezTo>
                    <a:pt x="951611" y="916051"/>
                    <a:pt x="916051" y="951611"/>
                    <a:pt x="872109" y="951611"/>
                  </a:cubicBezTo>
                  <a:lnTo>
                    <a:pt x="872109" y="926211"/>
                  </a:lnTo>
                  <a:lnTo>
                    <a:pt x="872109" y="951611"/>
                  </a:lnTo>
                  <a:lnTo>
                    <a:pt x="79502" y="951611"/>
                  </a:lnTo>
                  <a:lnTo>
                    <a:pt x="79502" y="926211"/>
                  </a:lnTo>
                  <a:lnTo>
                    <a:pt x="79502" y="951611"/>
                  </a:lnTo>
                  <a:cubicBezTo>
                    <a:pt x="35560" y="951484"/>
                    <a:pt x="0" y="915924"/>
                    <a:pt x="0" y="872109"/>
                  </a:cubicBezTo>
                  <a:lnTo>
                    <a:pt x="0" y="79502"/>
                  </a:lnTo>
                  <a:lnTo>
                    <a:pt x="25400" y="79502"/>
                  </a:lnTo>
                  <a:lnTo>
                    <a:pt x="0" y="79502"/>
                  </a:lnTo>
                  <a:moveTo>
                    <a:pt x="50800" y="79502"/>
                  </a:moveTo>
                  <a:lnTo>
                    <a:pt x="50800" y="872109"/>
                  </a:lnTo>
                  <a:lnTo>
                    <a:pt x="25400" y="872109"/>
                  </a:lnTo>
                  <a:lnTo>
                    <a:pt x="50800" y="872109"/>
                  </a:lnTo>
                  <a:cubicBezTo>
                    <a:pt x="50800" y="887984"/>
                    <a:pt x="63627" y="900811"/>
                    <a:pt x="79502" y="900811"/>
                  </a:cubicBezTo>
                  <a:lnTo>
                    <a:pt x="872109" y="900811"/>
                  </a:lnTo>
                  <a:cubicBezTo>
                    <a:pt x="887984" y="900811"/>
                    <a:pt x="900811" y="887984"/>
                    <a:pt x="900811" y="872109"/>
                  </a:cubicBezTo>
                  <a:lnTo>
                    <a:pt x="900811" y="79502"/>
                  </a:lnTo>
                  <a:cubicBezTo>
                    <a:pt x="900684" y="63627"/>
                    <a:pt x="887857" y="50800"/>
                    <a:pt x="872109" y="50800"/>
                  </a:cubicBezTo>
                  <a:lnTo>
                    <a:pt x="79502" y="50800"/>
                  </a:lnTo>
                  <a:lnTo>
                    <a:pt x="79502" y="25400"/>
                  </a:lnTo>
                  <a:lnTo>
                    <a:pt x="79502" y="50800"/>
                  </a:lnTo>
                  <a:cubicBezTo>
                    <a:pt x="63627" y="50800"/>
                    <a:pt x="50800" y="63627"/>
                    <a:pt x="50800" y="79502"/>
                  </a:cubicBezTo>
                  <a:close/>
                </a:path>
              </a:pathLst>
            </a:custGeom>
            <a:solidFill>
              <a:srgbClr val="575757"/>
            </a:solidFill>
          </p:spPr>
        </p:sp>
      </p:grpSp>
      <p:sp>
        <p:nvSpPr>
          <p:cNvPr id="44" name="Freeform 44" descr="preencoded.png"/>
          <p:cNvSpPr/>
          <p:nvPr/>
        </p:nvSpPr>
        <p:spPr>
          <a:xfrm>
            <a:off x="8975227" y="6724726"/>
            <a:ext cx="337690" cy="337690"/>
          </a:xfrm>
          <a:custGeom>
            <a:avLst/>
            <a:gdLst/>
            <a:ahLst/>
            <a:cxnLst/>
            <a:rect l="l" t="t" r="r" b="b"/>
            <a:pathLst>
              <a:path w="337690" h="337690">
                <a:moveTo>
                  <a:pt x="0" y="0"/>
                </a:moveTo>
                <a:lnTo>
                  <a:pt x="337689" y="0"/>
                </a:lnTo>
                <a:lnTo>
                  <a:pt x="337689" y="337690"/>
                </a:lnTo>
                <a:lnTo>
                  <a:pt x="0" y="337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387" r="-1390"/>
            </a:stretch>
          </a:blipFill>
        </p:spPr>
      </p:sp>
      <p:grpSp>
        <p:nvGrpSpPr>
          <p:cNvPr id="45" name="Group 45"/>
          <p:cNvGrpSpPr/>
          <p:nvPr/>
        </p:nvGrpSpPr>
        <p:grpSpPr>
          <a:xfrm>
            <a:off x="945804" y="8151466"/>
            <a:ext cx="16396392" cy="1113834"/>
            <a:chOff x="0" y="0"/>
            <a:chExt cx="21861856" cy="148511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862035" cy="1485138"/>
            </a:xfrm>
            <a:custGeom>
              <a:avLst/>
              <a:gdLst/>
              <a:ahLst/>
              <a:cxnLst/>
              <a:rect l="l" t="t" r="r" b="b"/>
              <a:pathLst>
                <a:path w="21862035" h="1485138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21807932" y="0"/>
                  </a:lnTo>
                  <a:cubicBezTo>
                    <a:pt x="21837777" y="0"/>
                    <a:pt x="21862035" y="24257"/>
                    <a:pt x="21862035" y="54102"/>
                  </a:cubicBezTo>
                  <a:lnTo>
                    <a:pt x="21862035" y="1431036"/>
                  </a:lnTo>
                  <a:cubicBezTo>
                    <a:pt x="21862035" y="1460881"/>
                    <a:pt x="21837777" y="1485138"/>
                    <a:pt x="21807932" y="1485138"/>
                  </a:cubicBezTo>
                  <a:lnTo>
                    <a:pt x="54102" y="1485138"/>
                  </a:lnTo>
                  <a:cubicBezTo>
                    <a:pt x="24257" y="1485138"/>
                    <a:pt x="0" y="1460881"/>
                    <a:pt x="0" y="1431036"/>
                  </a:cubicBezTo>
                  <a:close/>
                </a:path>
              </a:pathLst>
            </a:custGeom>
            <a:solidFill>
              <a:srgbClr val="494904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215923" y="8566842"/>
            <a:ext cx="337690" cy="270119"/>
            <a:chOff x="0" y="0"/>
            <a:chExt cx="450253" cy="360159"/>
          </a:xfrm>
        </p:grpSpPr>
        <p:sp>
          <p:nvSpPr>
            <p:cNvPr id="48" name="Freeform 48" descr="preencoded.png"/>
            <p:cNvSpPr/>
            <p:nvPr/>
          </p:nvSpPr>
          <p:spPr>
            <a:xfrm>
              <a:off x="0" y="0"/>
              <a:ext cx="450215" cy="360172"/>
            </a:xfrm>
            <a:custGeom>
              <a:avLst/>
              <a:gdLst/>
              <a:ahLst/>
              <a:cxnLst/>
              <a:rect l="l" t="t" r="r" b="b"/>
              <a:pathLst>
                <a:path w="450215" h="360172">
                  <a:moveTo>
                    <a:pt x="0" y="0"/>
                  </a:moveTo>
                  <a:lnTo>
                    <a:pt x="450215" y="0"/>
                  </a:lnTo>
                  <a:lnTo>
                    <a:pt x="450215" y="360172"/>
                  </a:lnTo>
                  <a:lnTo>
                    <a:pt x="0" y="360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" r="-8" b="-3"/>
              </a:stretch>
            </a:blipFill>
          </p:spPr>
        </p:sp>
      </p:grpSp>
      <p:sp>
        <p:nvSpPr>
          <p:cNvPr id="49" name="TextBox 49"/>
          <p:cNvSpPr txBox="1"/>
          <p:nvPr/>
        </p:nvSpPr>
        <p:spPr>
          <a:xfrm>
            <a:off x="1823742" y="8400155"/>
            <a:ext cx="15248334" cy="49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 Screenshot:</a:t>
            </a:r>
            <a:r>
              <a:rPr lang="en-US" sz="21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Insert Power BI dashboard export here for live portfolio demonstrations.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3202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F1F1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248302" y="3014215"/>
            <a:ext cx="924668" cy="249441"/>
            <a:chOff x="0" y="0"/>
            <a:chExt cx="1232891" cy="3325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2916" cy="332613"/>
            </a:xfrm>
            <a:custGeom>
              <a:avLst/>
              <a:gdLst/>
              <a:ahLst/>
              <a:cxnLst/>
              <a:rect l="l" t="t" r="r" b="b"/>
              <a:pathLst>
                <a:path w="1232916" h="332613">
                  <a:moveTo>
                    <a:pt x="0" y="29083"/>
                  </a:moveTo>
                  <a:cubicBezTo>
                    <a:pt x="0" y="12827"/>
                    <a:pt x="13462" y="0"/>
                    <a:pt x="29718" y="0"/>
                  </a:cubicBezTo>
                  <a:lnTo>
                    <a:pt x="1203198" y="0"/>
                  </a:lnTo>
                  <a:lnTo>
                    <a:pt x="1203198" y="6350"/>
                  </a:lnTo>
                  <a:lnTo>
                    <a:pt x="1203198" y="0"/>
                  </a:lnTo>
                  <a:cubicBezTo>
                    <a:pt x="1219454" y="0"/>
                    <a:pt x="1232916" y="12827"/>
                    <a:pt x="1232916" y="29083"/>
                  </a:cubicBezTo>
                  <a:lnTo>
                    <a:pt x="1226566" y="29083"/>
                  </a:lnTo>
                  <a:lnTo>
                    <a:pt x="1232916" y="29083"/>
                  </a:lnTo>
                  <a:lnTo>
                    <a:pt x="1232916" y="303530"/>
                  </a:lnTo>
                  <a:lnTo>
                    <a:pt x="1226566" y="303530"/>
                  </a:lnTo>
                  <a:lnTo>
                    <a:pt x="1232916" y="303530"/>
                  </a:lnTo>
                  <a:cubicBezTo>
                    <a:pt x="1232916" y="319786"/>
                    <a:pt x="1219454" y="332613"/>
                    <a:pt x="1203198" y="332613"/>
                  </a:cubicBezTo>
                  <a:lnTo>
                    <a:pt x="1203198" y="326263"/>
                  </a:lnTo>
                  <a:lnTo>
                    <a:pt x="1203198" y="332613"/>
                  </a:lnTo>
                  <a:lnTo>
                    <a:pt x="29718" y="332613"/>
                  </a:lnTo>
                  <a:lnTo>
                    <a:pt x="29718" y="326263"/>
                  </a:lnTo>
                  <a:lnTo>
                    <a:pt x="29718" y="332613"/>
                  </a:lnTo>
                  <a:cubicBezTo>
                    <a:pt x="13462" y="332613"/>
                    <a:pt x="0" y="319786"/>
                    <a:pt x="0" y="303530"/>
                  </a:cubicBezTo>
                  <a:lnTo>
                    <a:pt x="0" y="29083"/>
                  </a:lnTo>
                  <a:lnTo>
                    <a:pt x="6350" y="29083"/>
                  </a:lnTo>
                  <a:lnTo>
                    <a:pt x="0" y="29083"/>
                  </a:lnTo>
                  <a:moveTo>
                    <a:pt x="12700" y="29083"/>
                  </a:moveTo>
                  <a:lnTo>
                    <a:pt x="12700" y="303530"/>
                  </a:lnTo>
                  <a:lnTo>
                    <a:pt x="6350" y="303530"/>
                  </a:lnTo>
                  <a:lnTo>
                    <a:pt x="12700" y="303530"/>
                  </a:lnTo>
                  <a:cubicBezTo>
                    <a:pt x="12700" y="312420"/>
                    <a:pt x="20193" y="319913"/>
                    <a:pt x="29718" y="319913"/>
                  </a:cubicBezTo>
                  <a:lnTo>
                    <a:pt x="1203198" y="319913"/>
                  </a:lnTo>
                  <a:cubicBezTo>
                    <a:pt x="1212723" y="319913"/>
                    <a:pt x="1220216" y="312420"/>
                    <a:pt x="1220216" y="303530"/>
                  </a:cubicBezTo>
                  <a:lnTo>
                    <a:pt x="1220216" y="29083"/>
                  </a:lnTo>
                  <a:cubicBezTo>
                    <a:pt x="1220216" y="20193"/>
                    <a:pt x="1212723" y="12700"/>
                    <a:pt x="1203198" y="12700"/>
                  </a:cubicBezTo>
                  <a:lnTo>
                    <a:pt x="29718" y="12700"/>
                  </a:lnTo>
                  <a:lnTo>
                    <a:pt x="29718" y="6350"/>
                  </a:lnTo>
                  <a:lnTo>
                    <a:pt x="29718" y="12700"/>
                  </a:lnTo>
                  <a:cubicBezTo>
                    <a:pt x="20193" y="12700"/>
                    <a:pt x="12700" y="20193"/>
                    <a:pt x="12700" y="29083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4347572" y="3070917"/>
            <a:ext cx="726129" cy="136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2"/>
              </a:lnSpc>
            </a:pPr>
            <a:r>
              <a:rPr lang="en-US" sz="875">
                <a:solidFill>
                  <a:srgbClr val="F5F547"/>
                </a:solidFill>
                <a:latin typeface="Open Sans"/>
                <a:ea typeface="Open Sans"/>
                <a:cs typeface="Open Sans"/>
                <a:sym typeface="Open Sans"/>
              </a:rPr>
              <a:t>KEY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53065" y="3277638"/>
            <a:ext cx="3721446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the Data Reveals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243540" y="3906441"/>
            <a:ext cx="2342559" cy="1704823"/>
            <a:chOff x="0" y="0"/>
            <a:chExt cx="3123413" cy="2273097"/>
          </a:xfrm>
        </p:grpSpPr>
        <p:sp>
          <p:nvSpPr>
            <p:cNvPr id="11" name="Freeform 11"/>
            <p:cNvSpPr/>
            <p:nvPr/>
          </p:nvSpPr>
          <p:spPr>
            <a:xfrm>
              <a:off x="12700" y="12700"/>
              <a:ext cx="3098038" cy="2247646"/>
            </a:xfrm>
            <a:custGeom>
              <a:avLst/>
              <a:gdLst/>
              <a:ahLst/>
              <a:cxnLst/>
              <a:rect l="l" t="t" r="r" b="b"/>
              <a:pathLst>
                <a:path w="3098038" h="2247646">
                  <a:moveTo>
                    <a:pt x="0" y="121920"/>
                  </a:moveTo>
                  <a:cubicBezTo>
                    <a:pt x="0" y="54610"/>
                    <a:pt x="54737" y="0"/>
                    <a:pt x="122301" y="0"/>
                  </a:cubicBezTo>
                  <a:lnTo>
                    <a:pt x="2975737" y="0"/>
                  </a:lnTo>
                  <a:cubicBezTo>
                    <a:pt x="3043301" y="0"/>
                    <a:pt x="3098038" y="54610"/>
                    <a:pt x="3098038" y="121920"/>
                  </a:cubicBezTo>
                  <a:lnTo>
                    <a:pt x="3098038" y="2125726"/>
                  </a:lnTo>
                  <a:cubicBezTo>
                    <a:pt x="3098038" y="2193036"/>
                    <a:pt x="3043301" y="2247646"/>
                    <a:pt x="2975737" y="2247646"/>
                  </a:cubicBezTo>
                  <a:lnTo>
                    <a:pt x="122301" y="2247646"/>
                  </a:lnTo>
                  <a:cubicBezTo>
                    <a:pt x="54737" y="2247646"/>
                    <a:pt x="0" y="2193036"/>
                    <a:pt x="0" y="2125726"/>
                  </a:cubicBez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3123438" cy="2273046"/>
            </a:xfrm>
            <a:custGeom>
              <a:avLst/>
              <a:gdLst/>
              <a:ahLst/>
              <a:cxnLst/>
              <a:rect l="l" t="t" r="r" b="b"/>
              <a:pathLst>
                <a:path w="3123438" h="2273046">
                  <a:moveTo>
                    <a:pt x="0" y="134620"/>
                  </a:moveTo>
                  <a:cubicBezTo>
                    <a:pt x="0" y="60198"/>
                    <a:pt x="60452" y="0"/>
                    <a:pt x="135001" y="0"/>
                  </a:cubicBezTo>
                  <a:lnTo>
                    <a:pt x="2988437" y="0"/>
                  </a:lnTo>
                  <a:lnTo>
                    <a:pt x="2988437" y="12700"/>
                  </a:lnTo>
                  <a:lnTo>
                    <a:pt x="2988437" y="0"/>
                  </a:lnTo>
                  <a:cubicBezTo>
                    <a:pt x="3062986" y="0"/>
                    <a:pt x="3123438" y="60198"/>
                    <a:pt x="3123438" y="134620"/>
                  </a:cubicBezTo>
                  <a:lnTo>
                    <a:pt x="3110738" y="134620"/>
                  </a:lnTo>
                  <a:lnTo>
                    <a:pt x="3123438" y="134620"/>
                  </a:lnTo>
                  <a:lnTo>
                    <a:pt x="3123438" y="2138426"/>
                  </a:lnTo>
                  <a:lnTo>
                    <a:pt x="3110738" y="2138426"/>
                  </a:lnTo>
                  <a:lnTo>
                    <a:pt x="3123438" y="2138426"/>
                  </a:lnTo>
                  <a:cubicBezTo>
                    <a:pt x="3123438" y="2212848"/>
                    <a:pt x="3062986" y="2273046"/>
                    <a:pt x="2988437" y="2273046"/>
                  </a:cubicBezTo>
                  <a:lnTo>
                    <a:pt x="2988437" y="2260346"/>
                  </a:lnTo>
                  <a:lnTo>
                    <a:pt x="2988437" y="2273046"/>
                  </a:lnTo>
                  <a:lnTo>
                    <a:pt x="135001" y="2273046"/>
                  </a:lnTo>
                  <a:lnTo>
                    <a:pt x="135001" y="2260346"/>
                  </a:lnTo>
                  <a:lnTo>
                    <a:pt x="135001" y="2273046"/>
                  </a:lnTo>
                  <a:cubicBezTo>
                    <a:pt x="60452" y="2273046"/>
                    <a:pt x="0" y="2212848"/>
                    <a:pt x="0" y="2138426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2138426"/>
                  </a:lnTo>
                  <a:lnTo>
                    <a:pt x="12700" y="2138426"/>
                  </a:lnTo>
                  <a:lnTo>
                    <a:pt x="25400" y="2138426"/>
                  </a:lnTo>
                  <a:cubicBezTo>
                    <a:pt x="25400" y="2198751"/>
                    <a:pt x="74422" y="2247646"/>
                    <a:pt x="135001" y="2247646"/>
                  </a:cubicBezTo>
                  <a:lnTo>
                    <a:pt x="2988437" y="2247646"/>
                  </a:lnTo>
                  <a:cubicBezTo>
                    <a:pt x="3049016" y="2247646"/>
                    <a:pt x="3098038" y="2198751"/>
                    <a:pt x="3098038" y="2138426"/>
                  </a:cubicBezTo>
                  <a:lnTo>
                    <a:pt x="3098038" y="134620"/>
                  </a:lnTo>
                  <a:cubicBezTo>
                    <a:pt x="3098038" y="74295"/>
                    <a:pt x="3049016" y="25400"/>
                    <a:pt x="2988437" y="25400"/>
                  </a:cubicBezTo>
                  <a:lnTo>
                    <a:pt x="135001" y="25400"/>
                  </a:lnTo>
                  <a:lnTo>
                    <a:pt x="135001" y="12700"/>
                  </a:lnTo>
                  <a:lnTo>
                    <a:pt x="135001" y="25400"/>
                  </a:lnTo>
                  <a:cubicBezTo>
                    <a:pt x="74422" y="25400"/>
                    <a:pt x="25400" y="74295"/>
                    <a:pt x="25400" y="134620"/>
                  </a:cubicBezTo>
                  <a:close/>
                </a:path>
              </a:pathLst>
            </a:custGeom>
            <a:solidFill>
              <a:srgbClr val="575757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234015" y="3915966"/>
            <a:ext cx="76200" cy="1685773"/>
            <a:chOff x="0" y="0"/>
            <a:chExt cx="101600" cy="22476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600" cy="2247646"/>
            </a:xfrm>
            <a:custGeom>
              <a:avLst/>
              <a:gdLst/>
              <a:ahLst/>
              <a:cxnLst/>
              <a:rect l="l" t="t" r="r" b="b"/>
              <a:pathLst>
                <a:path w="101600" h="2247646">
                  <a:moveTo>
                    <a:pt x="0" y="28321"/>
                  </a:moveTo>
                  <a:cubicBezTo>
                    <a:pt x="0" y="12700"/>
                    <a:pt x="12700" y="0"/>
                    <a:pt x="28321" y="0"/>
                  </a:cubicBezTo>
                  <a:lnTo>
                    <a:pt x="73279" y="0"/>
                  </a:lnTo>
                  <a:cubicBezTo>
                    <a:pt x="88900" y="0"/>
                    <a:pt x="101600" y="12700"/>
                    <a:pt x="101600" y="28321"/>
                  </a:cubicBezTo>
                  <a:lnTo>
                    <a:pt x="101600" y="2219325"/>
                  </a:lnTo>
                  <a:cubicBezTo>
                    <a:pt x="101600" y="2234946"/>
                    <a:pt x="88900" y="2247646"/>
                    <a:pt x="73279" y="2247646"/>
                  </a:cubicBezTo>
                  <a:lnTo>
                    <a:pt x="28321" y="2247646"/>
                  </a:lnTo>
                  <a:cubicBezTo>
                    <a:pt x="12700" y="2247646"/>
                    <a:pt x="0" y="2234946"/>
                    <a:pt x="0" y="2219325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4470949" y="4076700"/>
            <a:ext cx="1944891" cy="442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Revenue Is Concentrated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70949" y="4590459"/>
            <a:ext cx="1944891" cy="680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 small subset of vendors drives the majority of total revenue — classic Pareto distribution applies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637887" y="3906441"/>
            <a:ext cx="2342702" cy="1704823"/>
            <a:chOff x="0" y="0"/>
            <a:chExt cx="3123603" cy="2273097"/>
          </a:xfrm>
        </p:grpSpPr>
        <p:sp>
          <p:nvSpPr>
            <p:cNvPr id="18" name="Freeform 18"/>
            <p:cNvSpPr/>
            <p:nvPr/>
          </p:nvSpPr>
          <p:spPr>
            <a:xfrm>
              <a:off x="12700" y="12700"/>
              <a:ext cx="3098165" cy="2247646"/>
            </a:xfrm>
            <a:custGeom>
              <a:avLst/>
              <a:gdLst/>
              <a:ahLst/>
              <a:cxnLst/>
              <a:rect l="l" t="t" r="r" b="b"/>
              <a:pathLst>
                <a:path w="3098165" h="2247646">
                  <a:moveTo>
                    <a:pt x="0" y="121920"/>
                  </a:moveTo>
                  <a:cubicBezTo>
                    <a:pt x="0" y="54610"/>
                    <a:pt x="54737" y="0"/>
                    <a:pt x="122301" y="0"/>
                  </a:cubicBezTo>
                  <a:lnTo>
                    <a:pt x="2975864" y="0"/>
                  </a:lnTo>
                  <a:cubicBezTo>
                    <a:pt x="3043428" y="0"/>
                    <a:pt x="3098165" y="54610"/>
                    <a:pt x="3098165" y="121920"/>
                  </a:cubicBezTo>
                  <a:lnTo>
                    <a:pt x="3098165" y="2125726"/>
                  </a:lnTo>
                  <a:cubicBezTo>
                    <a:pt x="3098165" y="2193036"/>
                    <a:pt x="3043428" y="2247646"/>
                    <a:pt x="2975864" y="2247646"/>
                  </a:cubicBezTo>
                  <a:lnTo>
                    <a:pt x="122301" y="2247646"/>
                  </a:lnTo>
                  <a:cubicBezTo>
                    <a:pt x="54737" y="2247646"/>
                    <a:pt x="0" y="2193036"/>
                    <a:pt x="0" y="2125726"/>
                  </a:cubicBez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3123565" cy="2273046"/>
            </a:xfrm>
            <a:custGeom>
              <a:avLst/>
              <a:gdLst/>
              <a:ahLst/>
              <a:cxnLst/>
              <a:rect l="l" t="t" r="r" b="b"/>
              <a:pathLst>
                <a:path w="3123565" h="2273046">
                  <a:moveTo>
                    <a:pt x="0" y="134620"/>
                  </a:moveTo>
                  <a:cubicBezTo>
                    <a:pt x="0" y="60198"/>
                    <a:pt x="60452" y="0"/>
                    <a:pt x="135001" y="0"/>
                  </a:cubicBezTo>
                  <a:lnTo>
                    <a:pt x="2988564" y="0"/>
                  </a:lnTo>
                  <a:lnTo>
                    <a:pt x="2988564" y="12700"/>
                  </a:lnTo>
                  <a:lnTo>
                    <a:pt x="2988564" y="0"/>
                  </a:lnTo>
                  <a:cubicBezTo>
                    <a:pt x="3063113" y="0"/>
                    <a:pt x="3123565" y="60198"/>
                    <a:pt x="3123565" y="134620"/>
                  </a:cubicBezTo>
                  <a:lnTo>
                    <a:pt x="3110865" y="134620"/>
                  </a:lnTo>
                  <a:lnTo>
                    <a:pt x="3123565" y="134620"/>
                  </a:lnTo>
                  <a:lnTo>
                    <a:pt x="3123565" y="2138426"/>
                  </a:lnTo>
                  <a:lnTo>
                    <a:pt x="3110865" y="2138426"/>
                  </a:lnTo>
                  <a:lnTo>
                    <a:pt x="3123565" y="2138426"/>
                  </a:lnTo>
                  <a:cubicBezTo>
                    <a:pt x="3123565" y="2212848"/>
                    <a:pt x="3063113" y="2273046"/>
                    <a:pt x="2988564" y="2273046"/>
                  </a:cubicBezTo>
                  <a:lnTo>
                    <a:pt x="2988564" y="2260346"/>
                  </a:lnTo>
                  <a:lnTo>
                    <a:pt x="2988564" y="2273046"/>
                  </a:lnTo>
                  <a:lnTo>
                    <a:pt x="135001" y="2273046"/>
                  </a:lnTo>
                  <a:lnTo>
                    <a:pt x="135001" y="2260346"/>
                  </a:lnTo>
                  <a:lnTo>
                    <a:pt x="135001" y="2273046"/>
                  </a:lnTo>
                  <a:cubicBezTo>
                    <a:pt x="60452" y="2273046"/>
                    <a:pt x="0" y="2212848"/>
                    <a:pt x="0" y="2138426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2138426"/>
                  </a:lnTo>
                  <a:lnTo>
                    <a:pt x="12700" y="2138426"/>
                  </a:lnTo>
                  <a:lnTo>
                    <a:pt x="25400" y="2138426"/>
                  </a:lnTo>
                  <a:cubicBezTo>
                    <a:pt x="25400" y="2198751"/>
                    <a:pt x="74422" y="2247646"/>
                    <a:pt x="135001" y="2247646"/>
                  </a:cubicBezTo>
                  <a:lnTo>
                    <a:pt x="2988564" y="2247646"/>
                  </a:lnTo>
                  <a:cubicBezTo>
                    <a:pt x="3049143" y="2247646"/>
                    <a:pt x="3098165" y="2198751"/>
                    <a:pt x="3098165" y="2138426"/>
                  </a:cubicBezTo>
                  <a:lnTo>
                    <a:pt x="3098165" y="134620"/>
                  </a:lnTo>
                  <a:cubicBezTo>
                    <a:pt x="3098165" y="74295"/>
                    <a:pt x="3049143" y="25400"/>
                    <a:pt x="2988564" y="25400"/>
                  </a:cubicBezTo>
                  <a:lnTo>
                    <a:pt x="135001" y="25400"/>
                  </a:lnTo>
                  <a:lnTo>
                    <a:pt x="135001" y="12700"/>
                  </a:lnTo>
                  <a:lnTo>
                    <a:pt x="135001" y="25400"/>
                  </a:lnTo>
                  <a:cubicBezTo>
                    <a:pt x="74422" y="25400"/>
                    <a:pt x="25400" y="74295"/>
                    <a:pt x="25400" y="134620"/>
                  </a:cubicBezTo>
                  <a:close/>
                </a:path>
              </a:pathLst>
            </a:custGeom>
            <a:solidFill>
              <a:srgbClr val="575757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628362" y="3915966"/>
            <a:ext cx="76200" cy="1685773"/>
            <a:chOff x="0" y="0"/>
            <a:chExt cx="101600" cy="22476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1600" cy="2247646"/>
            </a:xfrm>
            <a:custGeom>
              <a:avLst/>
              <a:gdLst/>
              <a:ahLst/>
              <a:cxnLst/>
              <a:rect l="l" t="t" r="r" b="b"/>
              <a:pathLst>
                <a:path w="101600" h="2247646">
                  <a:moveTo>
                    <a:pt x="0" y="28321"/>
                  </a:moveTo>
                  <a:cubicBezTo>
                    <a:pt x="0" y="12700"/>
                    <a:pt x="12700" y="0"/>
                    <a:pt x="28321" y="0"/>
                  </a:cubicBezTo>
                  <a:lnTo>
                    <a:pt x="73279" y="0"/>
                  </a:lnTo>
                  <a:cubicBezTo>
                    <a:pt x="88900" y="0"/>
                    <a:pt x="101600" y="12700"/>
                    <a:pt x="101600" y="28321"/>
                  </a:cubicBezTo>
                  <a:lnTo>
                    <a:pt x="101600" y="2219325"/>
                  </a:lnTo>
                  <a:cubicBezTo>
                    <a:pt x="101600" y="2234946"/>
                    <a:pt x="88900" y="2247646"/>
                    <a:pt x="73279" y="2247646"/>
                  </a:cubicBezTo>
                  <a:lnTo>
                    <a:pt x="28321" y="2247646"/>
                  </a:lnTo>
                  <a:cubicBezTo>
                    <a:pt x="12700" y="2247646"/>
                    <a:pt x="0" y="2234946"/>
                    <a:pt x="0" y="2219325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6865296" y="4076700"/>
            <a:ext cx="1945034" cy="442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High Costs Compress Profit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65296" y="4590459"/>
            <a:ext cx="1945034" cy="850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Certain high-revenue vendors carry disproportionate costs, significantly reducing their net contribution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4243540" y="5663060"/>
            <a:ext cx="2342559" cy="1534716"/>
            <a:chOff x="0" y="0"/>
            <a:chExt cx="3123413" cy="2046288"/>
          </a:xfrm>
        </p:grpSpPr>
        <p:sp>
          <p:nvSpPr>
            <p:cNvPr id="25" name="Freeform 25"/>
            <p:cNvSpPr/>
            <p:nvPr/>
          </p:nvSpPr>
          <p:spPr>
            <a:xfrm>
              <a:off x="12700" y="12700"/>
              <a:ext cx="3098038" cy="2020824"/>
            </a:xfrm>
            <a:custGeom>
              <a:avLst/>
              <a:gdLst/>
              <a:ahLst/>
              <a:cxnLst/>
              <a:rect l="l" t="t" r="r" b="b"/>
              <a:pathLst>
                <a:path w="3098038" h="2020824">
                  <a:moveTo>
                    <a:pt x="0" y="121920"/>
                  </a:moveTo>
                  <a:cubicBezTo>
                    <a:pt x="0" y="54610"/>
                    <a:pt x="54864" y="0"/>
                    <a:pt x="122428" y="0"/>
                  </a:cubicBezTo>
                  <a:lnTo>
                    <a:pt x="2975610" y="0"/>
                  </a:lnTo>
                  <a:cubicBezTo>
                    <a:pt x="3043174" y="0"/>
                    <a:pt x="3098038" y="54610"/>
                    <a:pt x="3098038" y="121920"/>
                  </a:cubicBezTo>
                  <a:lnTo>
                    <a:pt x="3098038" y="1898904"/>
                  </a:lnTo>
                  <a:cubicBezTo>
                    <a:pt x="3098038" y="1966214"/>
                    <a:pt x="3043174" y="2020824"/>
                    <a:pt x="2975610" y="2020824"/>
                  </a:cubicBezTo>
                  <a:lnTo>
                    <a:pt x="122428" y="2020824"/>
                  </a:lnTo>
                  <a:cubicBezTo>
                    <a:pt x="54864" y="2020824"/>
                    <a:pt x="0" y="1966214"/>
                    <a:pt x="0" y="1898904"/>
                  </a:cubicBez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3123438" cy="2046224"/>
            </a:xfrm>
            <a:custGeom>
              <a:avLst/>
              <a:gdLst/>
              <a:ahLst/>
              <a:cxnLst/>
              <a:rect l="l" t="t" r="r" b="b"/>
              <a:pathLst>
                <a:path w="3123438" h="2046224">
                  <a:moveTo>
                    <a:pt x="0" y="134620"/>
                  </a:moveTo>
                  <a:cubicBezTo>
                    <a:pt x="0" y="60198"/>
                    <a:pt x="60579" y="0"/>
                    <a:pt x="135128" y="0"/>
                  </a:cubicBezTo>
                  <a:lnTo>
                    <a:pt x="2988310" y="0"/>
                  </a:lnTo>
                  <a:lnTo>
                    <a:pt x="2988310" y="12700"/>
                  </a:lnTo>
                  <a:lnTo>
                    <a:pt x="2988310" y="0"/>
                  </a:lnTo>
                  <a:cubicBezTo>
                    <a:pt x="3062859" y="0"/>
                    <a:pt x="3123438" y="60198"/>
                    <a:pt x="3123438" y="134620"/>
                  </a:cubicBezTo>
                  <a:lnTo>
                    <a:pt x="3123438" y="1911604"/>
                  </a:lnTo>
                  <a:lnTo>
                    <a:pt x="3110738" y="1911604"/>
                  </a:lnTo>
                  <a:lnTo>
                    <a:pt x="3123438" y="1911604"/>
                  </a:lnTo>
                  <a:cubicBezTo>
                    <a:pt x="3123438" y="1986026"/>
                    <a:pt x="3062859" y="2046224"/>
                    <a:pt x="2988310" y="2046224"/>
                  </a:cubicBezTo>
                  <a:lnTo>
                    <a:pt x="2988310" y="2033524"/>
                  </a:lnTo>
                  <a:lnTo>
                    <a:pt x="2988310" y="2046224"/>
                  </a:lnTo>
                  <a:lnTo>
                    <a:pt x="135128" y="2046224"/>
                  </a:lnTo>
                  <a:lnTo>
                    <a:pt x="135128" y="2033524"/>
                  </a:lnTo>
                  <a:lnTo>
                    <a:pt x="135128" y="2046224"/>
                  </a:lnTo>
                  <a:cubicBezTo>
                    <a:pt x="60579" y="2046224"/>
                    <a:pt x="0" y="1986026"/>
                    <a:pt x="0" y="1911604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911604"/>
                  </a:lnTo>
                  <a:lnTo>
                    <a:pt x="12700" y="1911604"/>
                  </a:lnTo>
                  <a:lnTo>
                    <a:pt x="25400" y="1911604"/>
                  </a:lnTo>
                  <a:cubicBezTo>
                    <a:pt x="25400" y="1971929"/>
                    <a:pt x="74422" y="2020824"/>
                    <a:pt x="135128" y="2020824"/>
                  </a:cubicBezTo>
                  <a:lnTo>
                    <a:pt x="2988310" y="2020824"/>
                  </a:lnTo>
                  <a:cubicBezTo>
                    <a:pt x="3049016" y="2020824"/>
                    <a:pt x="3098038" y="1971929"/>
                    <a:pt x="3098038" y="1911604"/>
                  </a:cubicBezTo>
                  <a:lnTo>
                    <a:pt x="3098038" y="134620"/>
                  </a:lnTo>
                  <a:lnTo>
                    <a:pt x="3110738" y="134620"/>
                  </a:lnTo>
                  <a:lnTo>
                    <a:pt x="3098038" y="134620"/>
                  </a:lnTo>
                  <a:cubicBezTo>
                    <a:pt x="3098038" y="74295"/>
                    <a:pt x="3049016" y="25400"/>
                    <a:pt x="2988310" y="25400"/>
                  </a:cubicBezTo>
                  <a:lnTo>
                    <a:pt x="135128" y="25400"/>
                  </a:lnTo>
                  <a:lnTo>
                    <a:pt x="135128" y="12700"/>
                  </a:lnTo>
                  <a:lnTo>
                    <a:pt x="135128" y="25400"/>
                  </a:lnTo>
                  <a:cubicBezTo>
                    <a:pt x="74422" y="25400"/>
                    <a:pt x="25400" y="74295"/>
                    <a:pt x="25400" y="134620"/>
                  </a:cubicBezTo>
                  <a:close/>
                </a:path>
              </a:pathLst>
            </a:custGeom>
            <a:solidFill>
              <a:srgbClr val="575757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4234015" y="5672585"/>
            <a:ext cx="76200" cy="1515666"/>
            <a:chOff x="0" y="0"/>
            <a:chExt cx="101600" cy="20208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1600" cy="2020824"/>
            </a:xfrm>
            <a:custGeom>
              <a:avLst/>
              <a:gdLst/>
              <a:ahLst/>
              <a:cxnLst/>
              <a:rect l="l" t="t" r="r" b="b"/>
              <a:pathLst>
                <a:path w="101600" h="2020824">
                  <a:moveTo>
                    <a:pt x="0" y="28321"/>
                  </a:moveTo>
                  <a:cubicBezTo>
                    <a:pt x="0" y="12700"/>
                    <a:pt x="12700" y="0"/>
                    <a:pt x="28321" y="0"/>
                  </a:cubicBezTo>
                  <a:lnTo>
                    <a:pt x="73279" y="0"/>
                  </a:lnTo>
                  <a:cubicBezTo>
                    <a:pt x="88900" y="0"/>
                    <a:pt x="101600" y="12700"/>
                    <a:pt x="101600" y="28321"/>
                  </a:cubicBezTo>
                  <a:lnTo>
                    <a:pt x="101600" y="1992503"/>
                  </a:lnTo>
                  <a:cubicBezTo>
                    <a:pt x="101600" y="2008124"/>
                    <a:pt x="88900" y="2020824"/>
                    <a:pt x="73279" y="2020824"/>
                  </a:cubicBezTo>
                  <a:lnTo>
                    <a:pt x="28321" y="2020824"/>
                  </a:lnTo>
                  <a:cubicBezTo>
                    <a:pt x="12700" y="2020824"/>
                    <a:pt x="0" y="2008124"/>
                    <a:pt x="0" y="1992503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4470949" y="5833320"/>
            <a:ext cx="1888779" cy="221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Margins Remain Stable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70949" y="6125613"/>
            <a:ext cx="1944891" cy="680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Portfolio-wide profit margin holds steady at </a:t>
            </a:r>
            <a:r>
              <a:rPr lang="en-US" sz="1062" b="1">
                <a:solidFill>
                  <a:srgbClr val="BFBFB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~30%</a:t>
            </a:r>
            <a:r>
              <a:rPr lang="en-US" sz="106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, indicating consistent pricing discipline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637887" y="5663060"/>
            <a:ext cx="2342702" cy="1534716"/>
            <a:chOff x="0" y="0"/>
            <a:chExt cx="3123603" cy="2046288"/>
          </a:xfrm>
        </p:grpSpPr>
        <p:sp>
          <p:nvSpPr>
            <p:cNvPr id="32" name="Freeform 32"/>
            <p:cNvSpPr/>
            <p:nvPr/>
          </p:nvSpPr>
          <p:spPr>
            <a:xfrm>
              <a:off x="12700" y="12700"/>
              <a:ext cx="3098165" cy="2020824"/>
            </a:xfrm>
            <a:custGeom>
              <a:avLst/>
              <a:gdLst/>
              <a:ahLst/>
              <a:cxnLst/>
              <a:rect l="l" t="t" r="r" b="b"/>
              <a:pathLst>
                <a:path w="3098165" h="2020824">
                  <a:moveTo>
                    <a:pt x="0" y="121920"/>
                  </a:moveTo>
                  <a:cubicBezTo>
                    <a:pt x="0" y="54610"/>
                    <a:pt x="54864" y="0"/>
                    <a:pt x="122428" y="0"/>
                  </a:cubicBezTo>
                  <a:lnTo>
                    <a:pt x="2975737" y="0"/>
                  </a:lnTo>
                  <a:cubicBezTo>
                    <a:pt x="3043301" y="0"/>
                    <a:pt x="3098165" y="54610"/>
                    <a:pt x="3098165" y="121920"/>
                  </a:cubicBezTo>
                  <a:lnTo>
                    <a:pt x="3098165" y="1898904"/>
                  </a:lnTo>
                  <a:cubicBezTo>
                    <a:pt x="3098165" y="1966214"/>
                    <a:pt x="3043301" y="2020824"/>
                    <a:pt x="2975737" y="2020824"/>
                  </a:cubicBezTo>
                  <a:lnTo>
                    <a:pt x="122428" y="2020824"/>
                  </a:lnTo>
                  <a:cubicBezTo>
                    <a:pt x="54864" y="2020824"/>
                    <a:pt x="0" y="1966214"/>
                    <a:pt x="0" y="1898904"/>
                  </a:cubicBez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3123565" cy="2046224"/>
            </a:xfrm>
            <a:custGeom>
              <a:avLst/>
              <a:gdLst/>
              <a:ahLst/>
              <a:cxnLst/>
              <a:rect l="l" t="t" r="r" b="b"/>
              <a:pathLst>
                <a:path w="3123565" h="2046224">
                  <a:moveTo>
                    <a:pt x="0" y="134620"/>
                  </a:moveTo>
                  <a:cubicBezTo>
                    <a:pt x="0" y="60198"/>
                    <a:pt x="60579" y="0"/>
                    <a:pt x="135128" y="0"/>
                  </a:cubicBezTo>
                  <a:lnTo>
                    <a:pt x="2988437" y="0"/>
                  </a:lnTo>
                  <a:lnTo>
                    <a:pt x="2988437" y="12700"/>
                  </a:lnTo>
                  <a:lnTo>
                    <a:pt x="2988437" y="0"/>
                  </a:lnTo>
                  <a:cubicBezTo>
                    <a:pt x="3062986" y="0"/>
                    <a:pt x="3123565" y="60198"/>
                    <a:pt x="3123565" y="134620"/>
                  </a:cubicBezTo>
                  <a:lnTo>
                    <a:pt x="3123565" y="1911604"/>
                  </a:lnTo>
                  <a:lnTo>
                    <a:pt x="3110865" y="1911604"/>
                  </a:lnTo>
                  <a:lnTo>
                    <a:pt x="3123565" y="1911604"/>
                  </a:lnTo>
                  <a:cubicBezTo>
                    <a:pt x="3123565" y="1986026"/>
                    <a:pt x="3062986" y="2046224"/>
                    <a:pt x="2988437" y="2046224"/>
                  </a:cubicBezTo>
                  <a:lnTo>
                    <a:pt x="2988437" y="2033524"/>
                  </a:lnTo>
                  <a:lnTo>
                    <a:pt x="2988437" y="2046224"/>
                  </a:lnTo>
                  <a:lnTo>
                    <a:pt x="135128" y="2046224"/>
                  </a:lnTo>
                  <a:lnTo>
                    <a:pt x="135128" y="2033524"/>
                  </a:lnTo>
                  <a:lnTo>
                    <a:pt x="135128" y="2046224"/>
                  </a:lnTo>
                  <a:cubicBezTo>
                    <a:pt x="60579" y="2046224"/>
                    <a:pt x="0" y="1986026"/>
                    <a:pt x="0" y="1911604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911604"/>
                  </a:lnTo>
                  <a:lnTo>
                    <a:pt x="12700" y="1911604"/>
                  </a:lnTo>
                  <a:lnTo>
                    <a:pt x="25400" y="1911604"/>
                  </a:lnTo>
                  <a:cubicBezTo>
                    <a:pt x="25400" y="1971929"/>
                    <a:pt x="74422" y="2020824"/>
                    <a:pt x="135128" y="2020824"/>
                  </a:cubicBezTo>
                  <a:lnTo>
                    <a:pt x="2988437" y="2020824"/>
                  </a:lnTo>
                  <a:cubicBezTo>
                    <a:pt x="3049143" y="2020824"/>
                    <a:pt x="3098165" y="1971929"/>
                    <a:pt x="3098165" y="1911604"/>
                  </a:cubicBezTo>
                  <a:lnTo>
                    <a:pt x="3098165" y="134620"/>
                  </a:lnTo>
                  <a:lnTo>
                    <a:pt x="3110865" y="134620"/>
                  </a:lnTo>
                  <a:lnTo>
                    <a:pt x="3098165" y="134620"/>
                  </a:lnTo>
                  <a:cubicBezTo>
                    <a:pt x="3098165" y="74295"/>
                    <a:pt x="3049143" y="25400"/>
                    <a:pt x="2988437" y="25400"/>
                  </a:cubicBezTo>
                  <a:lnTo>
                    <a:pt x="135128" y="25400"/>
                  </a:lnTo>
                  <a:lnTo>
                    <a:pt x="135128" y="12700"/>
                  </a:lnTo>
                  <a:lnTo>
                    <a:pt x="135128" y="25400"/>
                  </a:lnTo>
                  <a:cubicBezTo>
                    <a:pt x="74422" y="25400"/>
                    <a:pt x="25400" y="74295"/>
                    <a:pt x="25400" y="134620"/>
                  </a:cubicBezTo>
                  <a:close/>
                </a:path>
              </a:pathLst>
            </a:custGeom>
            <a:solidFill>
              <a:srgbClr val="575757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6628362" y="5672585"/>
            <a:ext cx="76200" cy="1515666"/>
            <a:chOff x="0" y="0"/>
            <a:chExt cx="101600" cy="202088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1600" cy="2020824"/>
            </a:xfrm>
            <a:custGeom>
              <a:avLst/>
              <a:gdLst/>
              <a:ahLst/>
              <a:cxnLst/>
              <a:rect l="l" t="t" r="r" b="b"/>
              <a:pathLst>
                <a:path w="101600" h="2020824">
                  <a:moveTo>
                    <a:pt x="0" y="28321"/>
                  </a:moveTo>
                  <a:cubicBezTo>
                    <a:pt x="0" y="12700"/>
                    <a:pt x="12700" y="0"/>
                    <a:pt x="28321" y="0"/>
                  </a:cubicBezTo>
                  <a:lnTo>
                    <a:pt x="73279" y="0"/>
                  </a:lnTo>
                  <a:cubicBezTo>
                    <a:pt x="88900" y="0"/>
                    <a:pt x="101600" y="12700"/>
                    <a:pt x="101600" y="28321"/>
                  </a:cubicBezTo>
                  <a:lnTo>
                    <a:pt x="101600" y="1992503"/>
                  </a:lnTo>
                  <a:cubicBezTo>
                    <a:pt x="101600" y="2008124"/>
                    <a:pt x="88900" y="2020824"/>
                    <a:pt x="73279" y="2020824"/>
                  </a:cubicBezTo>
                  <a:lnTo>
                    <a:pt x="28321" y="2020824"/>
                  </a:lnTo>
                  <a:cubicBezTo>
                    <a:pt x="12700" y="2020824"/>
                    <a:pt x="0" y="2008124"/>
                    <a:pt x="0" y="1992503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6865296" y="5833320"/>
            <a:ext cx="1945034" cy="442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Vendor Performance Varies Widely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65296" y="6347069"/>
            <a:ext cx="1945034" cy="680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Significant disparity exists between top and bottom-tier vendors — signaling renegotiation opportunities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326461" y="3915966"/>
            <a:ext cx="4717999" cy="3825631"/>
            <a:chOff x="0" y="0"/>
            <a:chExt cx="6290666" cy="5100841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6290691" cy="5100828"/>
            </a:xfrm>
            <a:custGeom>
              <a:avLst/>
              <a:gdLst/>
              <a:ahLst/>
              <a:cxnLst/>
              <a:rect l="l" t="t" r="r" b="b"/>
              <a:pathLst>
                <a:path w="6290691" h="5100828">
                  <a:moveTo>
                    <a:pt x="0" y="0"/>
                  </a:moveTo>
                  <a:lnTo>
                    <a:pt x="6290691" y="0"/>
                  </a:lnTo>
                  <a:lnTo>
                    <a:pt x="6290691" y="5100828"/>
                  </a:lnTo>
                  <a:lnTo>
                    <a:pt x="0" y="5100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7" b="-77"/>
              </a:stretch>
            </a:blipFill>
          </p:spPr>
        </p:sp>
      </p:grpSp>
      <p:sp>
        <p:nvSpPr>
          <p:cNvPr id="40" name="TextBox 40"/>
          <p:cNvSpPr txBox="1"/>
          <p:nvPr/>
        </p:nvSpPr>
        <p:spPr>
          <a:xfrm>
            <a:off x="13334067" y="4587926"/>
            <a:ext cx="157667" cy="10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"/>
              </a:lnSpc>
            </a:pPr>
            <a:r>
              <a:rPr lang="en-US" sz="6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452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254798" y="5705208"/>
            <a:ext cx="157667" cy="10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"/>
              </a:lnSpc>
            </a:pPr>
            <a:r>
              <a:rPr lang="en-US" sz="6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308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977810" y="6822491"/>
            <a:ext cx="157667" cy="10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"/>
              </a:lnSpc>
            </a:pPr>
            <a:r>
              <a:rPr lang="en-US" sz="6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F1F1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30326" y="766915"/>
            <a:ext cx="1679077" cy="488747"/>
            <a:chOff x="0" y="0"/>
            <a:chExt cx="2238769" cy="6516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8756" cy="651637"/>
            </a:xfrm>
            <a:custGeom>
              <a:avLst/>
              <a:gdLst/>
              <a:ahLst/>
              <a:cxnLst/>
              <a:rect l="l" t="t" r="r" b="b"/>
              <a:pathLst>
                <a:path w="2238756" h="651637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2196211" y="0"/>
                  </a:lnTo>
                  <a:cubicBezTo>
                    <a:pt x="2219706" y="0"/>
                    <a:pt x="2238756" y="19050"/>
                    <a:pt x="2238756" y="42545"/>
                  </a:cubicBezTo>
                  <a:lnTo>
                    <a:pt x="2238756" y="609092"/>
                  </a:lnTo>
                  <a:cubicBezTo>
                    <a:pt x="2238756" y="632587"/>
                    <a:pt x="2219706" y="651637"/>
                    <a:pt x="2196211" y="651637"/>
                  </a:cubicBezTo>
                  <a:lnTo>
                    <a:pt x="42545" y="651637"/>
                  </a:lnTo>
                  <a:cubicBezTo>
                    <a:pt x="19050" y="651637"/>
                    <a:pt x="0" y="632587"/>
                    <a:pt x="0" y="609092"/>
                  </a:cubicBezTo>
                  <a:close/>
                </a:path>
              </a:pathLst>
            </a:custGeom>
            <a:solidFill>
              <a:srgbClr val="494904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089717" y="789384"/>
            <a:ext cx="1360284" cy="38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0326" y="1326652"/>
            <a:ext cx="7544695" cy="859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Business Value &amp; Impact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0326" y="2789634"/>
            <a:ext cx="5016998" cy="43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How the Dashboard Drives Value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30326" y="3504305"/>
            <a:ext cx="597989" cy="597989"/>
            <a:chOff x="0" y="0"/>
            <a:chExt cx="797319" cy="7973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97433" cy="797433"/>
            </a:xfrm>
            <a:custGeom>
              <a:avLst/>
              <a:gdLst/>
              <a:ahLst/>
              <a:cxnLst/>
              <a:rect l="l" t="t" r="r" b="b"/>
              <a:pathLst>
                <a:path w="797433" h="797433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744220" y="0"/>
                  </a:lnTo>
                  <a:cubicBezTo>
                    <a:pt x="773557" y="0"/>
                    <a:pt x="797433" y="23749"/>
                    <a:pt x="797433" y="53213"/>
                  </a:cubicBezTo>
                  <a:lnTo>
                    <a:pt x="797433" y="744220"/>
                  </a:lnTo>
                  <a:cubicBezTo>
                    <a:pt x="797433" y="773557"/>
                    <a:pt x="773684" y="797433"/>
                    <a:pt x="744220" y="797433"/>
                  </a:cubicBezTo>
                  <a:lnTo>
                    <a:pt x="53213" y="797433"/>
                  </a:lnTo>
                  <a:cubicBezTo>
                    <a:pt x="23749" y="797306"/>
                    <a:pt x="0" y="773557"/>
                    <a:pt x="0" y="744220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777451" y="3576485"/>
            <a:ext cx="3975049" cy="43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Smarter Decision-Making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77451" y="4202906"/>
            <a:ext cx="7042394" cy="88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Stakeholders gain real-time clarity on which vendors to prioritize, grow, or exit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0326" y="5582241"/>
            <a:ext cx="597989" cy="597989"/>
            <a:chOff x="0" y="0"/>
            <a:chExt cx="797319" cy="7973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97433" cy="797433"/>
            </a:xfrm>
            <a:custGeom>
              <a:avLst/>
              <a:gdLst/>
              <a:ahLst/>
              <a:cxnLst/>
              <a:rect l="l" t="t" r="r" b="b"/>
              <a:pathLst>
                <a:path w="797433" h="797433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744220" y="0"/>
                  </a:lnTo>
                  <a:cubicBezTo>
                    <a:pt x="773557" y="0"/>
                    <a:pt x="797433" y="23749"/>
                    <a:pt x="797433" y="53213"/>
                  </a:cubicBezTo>
                  <a:lnTo>
                    <a:pt x="797433" y="744220"/>
                  </a:lnTo>
                  <a:cubicBezTo>
                    <a:pt x="797433" y="773557"/>
                    <a:pt x="773684" y="797433"/>
                    <a:pt x="744220" y="797433"/>
                  </a:cubicBezTo>
                  <a:lnTo>
                    <a:pt x="53213" y="797433"/>
                  </a:lnTo>
                  <a:cubicBezTo>
                    <a:pt x="23749" y="797306"/>
                    <a:pt x="0" y="773557"/>
                    <a:pt x="0" y="744220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777451" y="5654431"/>
            <a:ext cx="3322587" cy="43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Cost Optimization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77451" y="6280842"/>
            <a:ext cx="7042394" cy="88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Identifies hidden cost drivers and enables targeted renegotiation with underperforming vendors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30326" y="7660186"/>
            <a:ext cx="597989" cy="597989"/>
            <a:chOff x="0" y="0"/>
            <a:chExt cx="797319" cy="7973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97433" cy="797433"/>
            </a:xfrm>
            <a:custGeom>
              <a:avLst/>
              <a:gdLst/>
              <a:ahLst/>
              <a:cxnLst/>
              <a:rect l="l" t="t" r="r" b="b"/>
              <a:pathLst>
                <a:path w="797433" h="797433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744220" y="0"/>
                  </a:lnTo>
                  <a:cubicBezTo>
                    <a:pt x="773557" y="0"/>
                    <a:pt x="797433" y="23749"/>
                    <a:pt x="797433" y="53213"/>
                  </a:cubicBezTo>
                  <a:lnTo>
                    <a:pt x="797433" y="744220"/>
                  </a:lnTo>
                  <a:cubicBezTo>
                    <a:pt x="797433" y="773557"/>
                    <a:pt x="773684" y="797433"/>
                    <a:pt x="744220" y="797433"/>
                  </a:cubicBezTo>
                  <a:lnTo>
                    <a:pt x="53213" y="797433"/>
                  </a:lnTo>
                  <a:cubicBezTo>
                    <a:pt x="23749" y="797306"/>
                    <a:pt x="0" y="773557"/>
                    <a:pt x="0" y="744220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777451" y="7732366"/>
            <a:ext cx="4181627" cy="43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BFBFB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Scalable Vendor Evaluation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77451" y="8358778"/>
            <a:ext cx="7042394" cy="88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 repeatable analytics framework that can be extended to new vendors and time periods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86427" y="2559548"/>
            <a:ext cx="8272015" cy="6960546"/>
            <a:chOff x="0" y="0"/>
            <a:chExt cx="11029353" cy="92807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029442" cy="9280779"/>
            </a:xfrm>
            <a:custGeom>
              <a:avLst/>
              <a:gdLst/>
              <a:ahLst/>
              <a:cxnLst/>
              <a:rect l="l" t="t" r="r" b="b"/>
              <a:pathLst>
                <a:path w="11029442" h="9280779">
                  <a:moveTo>
                    <a:pt x="0" y="53213"/>
                  </a:moveTo>
                  <a:cubicBezTo>
                    <a:pt x="0" y="23749"/>
                    <a:pt x="23749" y="0"/>
                    <a:pt x="53213" y="0"/>
                  </a:cubicBezTo>
                  <a:lnTo>
                    <a:pt x="10976229" y="0"/>
                  </a:lnTo>
                  <a:cubicBezTo>
                    <a:pt x="11005566" y="0"/>
                    <a:pt x="11029442" y="23749"/>
                    <a:pt x="11029442" y="53213"/>
                  </a:cubicBezTo>
                  <a:lnTo>
                    <a:pt x="11029442" y="9227566"/>
                  </a:lnTo>
                  <a:cubicBezTo>
                    <a:pt x="11029442" y="9256903"/>
                    <a:pt x="11005693" y="9280779"/>
                    <a:pt x="10976229" y="9280779"/>
                  </a:cubicBezTo>
                  <a:lnTo>
                    <a:pt x="53213" y="9280779"/>
                  </a:lnTo>
                  <a:cubicBezTo>
                    <a:pt x="23876" y="9280779"/>
                    <a:pt x="0" y="9257030"/>
                    <a:pt x="0" y="9227566"/>
                  </a:cubicBezTo>
                  <a:close/>
                </a:path>
              </a:pathLst>
            </a:custGeom>
            <a:solidFill>
              <a:srgbClr val="1D4241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9552232" y="2789634"/>
            <a:ext cx="3322587" cy="43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FEFEF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Final Takeaway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50948" y="3447155"/>
            <a:ext cx="7341689" cy="1293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analytics transforms vendor management from a reactive process into a </a:t>
            </a:r>
            <a:r>
              <a:rPr lang="en-US" sz="206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strategic advantage</a:t>
            </a:r>
            <a:r>
              <a:rPr lang="en-US" sz="206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— enabling faster decisions, lower costs, and stronger partnerships.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552232" y="3504305"/>
            <a:ext cx="28575" cy="1235869"/>
            <a:chOff x="0" y="0"/>
            <a:chExt cx="38100" cy="164782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8100" cy="1647825"/>
            </a:xfrm>
            <a:custGeom>
              <a:avLst/>
              <a:gdLst/>
              <a:ahLst/>
              <a:cxnLst/>
              <a:rect l="l" t="t" r="r" b="b"/>
              <a:pathLst>
                <a:path w="38100" h="1647825">
                  <a:moveTo>
                    <a:pt x="0" y="0"/>
                  </a:moveTo>
                  <a:lnTo>
                    <a:pt x="38100" y="0"/>
                  </a:lnTo>
                  <a:lnTo>
                    <a:pt x="38100" y="1647825"/>
                  </a:lnTo>
                  <a:lnTo>
                    <a:pt x="0" y="1647825"/>
                  </a:lnTo>
                  <a:close/>
                </a:path>
              </a:pathLst>
            </a:custGeom>
            <a:solidFill>
              <a:srgbClr val="F5F547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552232" y="5086798"/>
            <a:ext cx="7740406" cy="19793"/>
            <a:chOff x="0" y="0"/>
            <a:chExt cx="10320541" cy="2639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320528" cy="26416"/>
            </a:xfrm>
            <a:custGeom>
              <a:avLst/>
              <a:gdLst/>
              <a:ahLst/>
              <a:cxnLst/>
              <a:rect l="l" t="t" r="r" b="b"/>
              <a:pathLst>
                <a:path w="10320528" h="26416">
                  <a:moveTo>
                    <a:pt x="0" y="0"/>
                  </a:moveTo>
                  <a:lnTo>
                    <a:pt x="10320528" y="0"/>
                  </a:lnTo>
                  <a:lnTo>
                    <a:pt x="10320528" y="26416"/>
                  </a:lnTo>
                  <a:lnTo>
                    <a:pt x="0" y="26416"/>
                  </a:ln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9552232" y="5396065"/>
            <a:ext cx="7740406" cy="46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Tools Mastered:</a:t>
            </a:r>
            <a:r>
              <a:rPr lang="en-US" sz="206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SQL · Python · Power BI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52232" y="6032154"/>
            <a:ext cx="7740406" cy="88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Outcome:</a:t>
            </a:r>
            <a:r>
              <a:rPr lang="en-US" sz="206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 production-ready portfolio dashboard that demonstrates end-to-end analytical thinking.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</Words>
  <Application>Microsoft Office PowerPoint</Application>
  <PresentationFormat>Custom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Instrument Serif</vt:lpstr>
      <vt:lpstr>Open Sans</vt:lpstr>
      <vt:lpstr>Calibri</vt:lpstr>
      <vt:lpstr>Arimo</vt:lpstr>
      <vt:lpstr>Open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Vendor-Performance-Analysis-Dashboard.pptx</dc:title>
  <dc:creator>KRISHNA</dc:creator>
  <cp:lastModifiedBy>Krishna Bhise</cp:lastModifiedBy>
  <cp:revision>2</cp:revision>
  <dcterms:created xsi:type="dcterms:W3CDTF">2006-08-16T00:00:00Z</dcterms:created>
  <dcterms:modified xsi:type="dcterms:W3CDTF">2026-04-13T15:37:00Z</dcterms:modified>
  <dc:identifier>DAHGv2K31KQ</dc:identifier>
</cp:coreProperties>
</file>